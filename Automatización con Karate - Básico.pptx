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sldIdLst>
    <p:sldId id="257" r:id="rId5"/>
    <p:sldId id="445" r:id="rId6"/>
    <p:sldId id="458" r:id="rId7"/>
    <p:sldId id="456" r:id="rId8"/>
    <p:sldId id="446" r:id="rId9"/>
    <p:sldId id="447" r:id="rId10"/>
    <p:sldId id="460" r:id="rId11"/>
    <p:sldId id="448" r:id="rId12"/>
    <p:sldId id="449" r:id="rId13"/>
    <p:sldId id="450" r:id="rId14"/>
    <p:sldId id="451" r:id="rId15"/>
    <p:sldId id="453" r:id="rId16"/>
    <p:sldId id="452" r:id="rId17"/>
    <p:sldId id="459" r:id="rId18"/>
    <p:sldId id="454" r:id="rId19"/>
    <p:sldId id="455" r:id="rId20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316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630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5DA230-1366-4E4F-8A41-EE301A2906D6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B2DAE-6845-429D-B67C-6D4047C75D3C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3610974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CC68D6-E450-1B26-2CD6-2188FBBED2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C9BDE0-0BD7-51DB-7707-749795E1E5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ABA4DA4-1226-7166-60A5-902FEEB4A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E4F0A-16E3-4D19-902D-2A7118730677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399040A-EDFC-1CDA-127E-F4C275E5E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BD0D1B3-829D-78DF-49FC-440696AB3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865BE-B09F-4FEC-8360-64959F5200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72741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D9CD30-C1AE-D44D-8F14-41C29072F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7EF54B-3113-8080-4AC9-6718DDE2B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5909FE-B7F4-094E-DF9C-4FF289E62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E4F0A-16E3-4D19-902D-2A7118730677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28BE4E8-7803-8031-9A02-D90EFBFD9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1CFDA3-05E5-EAEA-2EBA-E989165EE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865BE-B09F-4FEC-8360-64959F5200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47166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9AD5A2-FE97-84C7-163C-5C4B9B86C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029AE46-B55A-C8CA-17E8-F81E6AC087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67B937-325E-83B4-D7C6-8BFE6BF1B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E4F0A-16E3-4D19-902D-2A7118730677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858981-8138-0577-3059-2F4963020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24C47F-062D-0889-BF78-FDF583C01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865BE-B09F-4FEC-8360-64959F5200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04578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D34D2E-F5CA-118A-7229-B4BE21CE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EF41871-3169-0FFA-A590-C79439EC53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61BAF23-D054-59D8-7414-AD88C503D5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F116590-06FC-6457-51DF-D72842153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E4F0A-16E3-4D19-902D-2A7118730677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8B20832-B4A3-535D-7C4C-40D3F5E2D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46D33B4-3A91-9FBF-DC27-7310767C1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865BE-B09F-4FEC-8360-64959F5200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97183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ACB5B4-CD7B-E400-6073-ECF2D1322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AD8A116-8F70-4FB6-BDB0-54025EA996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C7375B8-E631-7F20-D8AF-94DB05CC7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80A5141-AB8A-D6A5-DBEE-557A8A9162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8299B0-979E-89DF-9568-0506C80B93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1B1D5DF-5B6D-4052-E4DA-D612FC6B3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E4F0A-16E3-4D19-902D-2A7118730677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E8B7E16-4AAF-3983-52A2-1F4C290AA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E2C0007-ED70-C946-BCF6-9BB551BB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865BE-B09F-4FEC-8360-64959F5200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43986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10FA10-9482-46A4-BABA-538BC79E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082B7A5-B4C5-E35C-F882-67BC97AD7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E4F0A-16E3-4D19-902D-2A7118730677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FB74C4B-9EFD-D7EE-FC03-16474A88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CB0AB21-6757-F310-87F3-69833E66D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865BE-B09F-4FEC-8360-64959F5200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877136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723D12E-5D0E-2DEE-7BBB-F7E7C14F6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E4F0A-16E3-4D19-902D-2A7118730677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84FA58E-B302-5882-5AFE-6F70DA75F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7E4F68-B92D-3E87-7829-F2787B35E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865BE-B09F-4FEC-8360-64959F5200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58253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D0D4E-294F-974F-DB96-834F10CB7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292618-E752-3B24-D438-8D005877D6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E2DFEB6-520A-6F09-A0C5-78BA10FFC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9CAEF1-EB64-C0F4-9C53-2A2FF8878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E4F0A-16E3-4D19-902D-2A7118730677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2C307EA-C662-D0B3-378F-52D8EFF0D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A726E7-E022-49CB-2F65-B2ED5C5E1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865BE-B09F-4FEC-8360-64959F5200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2090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2F4E72-37B2-D02A-9BD7-3CDABBC74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2788CB2-0D4A-E976-FA9D-1804AB9D82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AB61C02-9124-CF05-E692-42692C5E9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72A949-4442-9824-9A8A-9EAAC3838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E4F0A-16E3-4D19-902D-2A7118730677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22F1F1F-F3A3-9950-0949-491E86A41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E7DD5BC-83E1-AF4B-B1C1-49A4FFAE2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865BE-B09F-4FEC-8360-64959F5200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1250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D26BF1-489D-BF92-68DC-858132BB8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A627BC4-9EB8-F745-0848-34F42D603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31C5478-4AEB-0F14-EEAE-FB75FF6AE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E4F0A-16E3-4D19-902D-2A7118730677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87BE08-6246-BFF8-04F8-73389FD60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D5A14D-1827-84E1-9403-01CE5887C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865BE-B09F-4FEC-8360-64959F5200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698902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79AF03B-D3DC-9D07-224B-40E383CAD8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196784E-6F01-3B13-E97D-60E4774799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7384A32-32E0-E091-3F65-A142B215C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E4F0A-16E3-4D19-902D-2A7118730677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80A7A7-66D5-6385-E560-DF085B78C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82C3075-B0C0-5D27-0E0E-0575E481F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865BE-B09F-4FEC-8360-64959F5200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6418068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borrosa de una persona&#10;&#10;Descripción generada automáticamente con confianza baja">
            <a:extLst>
              <a:ext uri="{FF2B5EF4-FFF2-40B4-BE49-F238E27FC236}">
                <a16:creationId xmlns:a16="http://schemas.microsoft.com/office/drawing/2014/main" id="{315E7D82-45B3-4584-A2CA-B8AF125911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2"/>
          <a:stretch/>
        </p:blipFill>
        <p:spPr>
          <a:xfrm>
            <a:off x="0" y="-20846"/>
            <a:ext cx="12192000" cy="6894368"/>
          </a:xfrm>
          <a:prstGeom prst="rect">
            <a:avLst/>
          </a:prstGeom>
        </p:spPr>
      </p:pic>
      <p:sp>
        <p:nvSpPr>
          <p:cNvPr id="12" name="Título de la presentación"/>
          <p:cNvSpPr txBox="1">
            <a:spLocks noGrp="1"/>
          </p:cNvSpPr>
          <p:nvPr>
            <p:ph type="title" hasCustomPrompt="1"/>
          </p:nvPr>
        </p:nvSpPr>
        <p:spPr>
          <a:xfrm>
            <a:off x="603248" y="1570524"/>
            <a:ext cx="10323832" cy="232410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5400" spc="-116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s-ES"/>
              <a:t>HAGA CLIC PARA MODIFICAR EL ESTILO </a:t>
            </a:r>
            <a:br>
              <a:rPr lang="es-ES"/>
            </a:br>
            <a:r>
              <a:rPr lang="es-ES"/>
              <a:t>DE TÍTULO DEL PATRÓN</a:t>
            </a:r>
          </a:p>
        </p:txBody>
      </p:sp>
      <p:sp>
        <p:nvSpPr>
          <p:cNvPr id="13" name="Nivel de texto 1…"/>
          <p:cNvSpPr txBox="1">
            <a:spLocks noGrp="1"/>
          </p:cNvSpPr>
          <p:nvPr>
            <p:ph type="body" sz="quarter" idx="1"/>
          </p:nvPr>
        </p:nvSpPr>
        <p:spPr>
          <a:xfrm>
            <a:off x="600671" y="3894623"/>
            <a:ext cx="10985501" cy="952501"/>
          </a:xfrm>
          <a:prstGeom prst="rect">
            <a:avLst/>
          </a:prstGeom>
        </p:spPr>
        <p:txBody>
          <a:bodyPr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  <a:lvl2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2pPr>
            <a:lvl3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3pPr>
            <a:lvl4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4pPr>
            <a:lvl5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endParaRPr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FB51FBD0-4D4F-45BF-AB9E-6F25150E25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4605" y="5331010"/>
            <a:ext cx="1570302" cy="713773"/>
          </a:xfrm>
          <a:prstGeom prst="rect">
            <a:avLst/>
          </a:prstGeom>
        </p:spPr>
      </p:pic>
      <p:sp>
        <p:nvSpPr>
          <p:cNvPr id="18" name="object 14">
            <a:extLst>
              <a:ext uri="{FF2B5EF4-FFF2-40B4-BE49-F238E27FC236}">
                <a16:creationId xmlns:a16="http://schemas.microsoft.com/office/drawing/2014/main" id="{64A04134-AD85-4422-A1B1-EFA77856933E}"/>
              </a:ext>
            </a:extLst>
          </p:cNvPr>
          <p:cNvSpPr/>
          <p:nvPr/>
        </p:nvSpPr>
        <p:spPr>
          <a:xfrm>
            <a:off x="600672" y="6134985"/>
            <a:ext cx="10928298" cy="164978"/>
          </a:xfrm>
          <a:custGeom>
            <a:avLst/>
            <a:gdLst/>
            <a:ahLst/>
            <a:cxnLst/>
            <a:rect l="l" t="t" r="r" b="b"/>
            <a:pathLst>
              <a:path w="18470245">
                <a:moveTo>
                  <a:pt x="18469845" y="0"/>
                </a:moveTo>
                <a:lnTo>
                  <a:pt x="0" y="0"/>
                </a:lnTo>
              </a:path>
            </a:pathLst>
          </a:custGeom>
          <a:ln w="5235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703801D6-AD3A-4AB5-B783-09D52359CE7D}"/>
              </a:ext>
            </a:extLst>
          </p:cNvPr>
          <p:cNvSpPr/>
          <p:nvPr/>
        </p:nvSpPr>
        <p:spPr>
          <a:xfrm>
            <a:off x="9507966" y="558037"/>
            <a:ext cx="2042269" cy="283168"/>
          </a:xfrm>
          <a:custGeom>
            <a:avLst/>
            <a:gdLst/>
            <a:ahLst/>
            <a:cxnLst/>
            <a:rect l="l" t="t" r="r" b="b"/>
            <a:pathLst>
              <a:path w="3972559" h="534035">
                <a:moveTo>
                  <a:pt x="558812" y="5613"/>
                </a:moveTo>
                <a:lnTo>
                  <a:pt x="431787" y="5613"/>
                </a:lnTo>
                <a:lnTo>
                  <a:pt x="431787" y="331304"/>
                </a:lnTo>
                <a:lnTo>
                  <a:pt x="432054" y="350342"/>
                </a:lnTo>
                <a:lnTo>
                  <a:pt x="433717" y="396265"/>
                </a:lnTo>
                <a:lnTo>
                  <a:pt x="434073" y="402094"/>
                </a:lnTo>
                <a:lnTo>
                  <a:pt x="433717" y="407352"/>
                </a:lnTo>
                <a:lnTo>
                  <a:pt x="426999" y="411111"/>
                </a:lnTo>
                <a:lnTo>
                  <a:pt x="423265" y="407847"/>
                </a:lnTo>
                <a:lnTo>
                  <a:pt x="420827" y="403542"/>
                </a:lnTo>
                <a:lnTo>
                  <a:pt x="329819" y="241185"/>
                </a:lnTo>
                <a:lnTo>
                  <a:pt x="295529" y="180492"/>
                </a:lnTo>
                <a:lnTo>
                  <a:pt x="264121" y="125412"/>
                </a:lnTo>
                <a:lnTo>
                  <a:pt x="239369" y="82778"/>
                </a:lnTo>
                <a:lnTo>
                  <a:pt x="205524" y="35331"/>
                </a:lnTo>
                <a:lnTo>
                  <a:pt x="152425" y="4343"/>
                </a:lnTo>
                <a:lnTo>
                  <a:pt x="114769" y="0"/>
                </a:lnTo>
                <a:lnTo>
                  <a:pt x="82651" y="3149"/>
                </a:lnTo>
                <a:lnTo>
                  <a:pt x="51663" y="14960"/>
                </a:lnTo>
                <a:lnTo>
                  <a:pt x="25260" y="38950"/>
                </a:lnTo>
                <a:lnTo>
                  <a:pt x="6896" y="78663"/>
                </a:lnTo>
                <a:lnTo>
                  <a:pt x="0" y="137629"/>
                </a:lnTo>
                <a:lnTo>
                  <a:pt x="0" y="528015"/>
                </a:lnTo>
                <a:lnTo>
                  <a:pt x="126898" y="528015"/>
                </a:lnTo>
                <a:lnTo>
                  <a:pt x="126898" y="202463"/>
                </a:lnTo>
                <a:lnTo>
                  <a:pt x="126644" y="183438"/>
                </a:lnTo>
                <a:lnTo>
                  <a:pt x="124739" y="131737"/>
                </a:lnTo>
                <a:lnTo>
                  <a:pt x="125031" y="126263"/>
                </a:lnTo>
                <a:lnTo>
                  <a:pt x="131826" y="122656"/>
                </a:lnTo>
                <a:lnTo>
                  <a:pt x="135420" y="125907"/>
                </a:lnTo>
                <a:lnTo>
                  <a:pt x="192024" y="228041"/>
                </a:lnTo>
                <a:lnTo>
                  <a:pt x="224040" y="285483"/>
                </a:lnTo>
                <a:lnTo>
                  <a:pt x="257530" y="345020"/>
                </a:lnTo>
                <a:lnTo>
                  <a:pt x="289179" y="400469"/>
                </a:lnTo>
                <a:lnTo>
                  <a:pt x="315658" y="445643"/>
                </a:lnTo>
                <a:lnTo>
                  <a:pt x="353225" y="498436"/>
                </a:lnTo>
                <a:lnTo>
                  <a:pt x="406336" y="529590"/>
                </a:lnTo>
                <a:lnTo>
                  <a:pt x="443992" y="533984"/>
                </a:lnTo>
                <a:lnTo>
                  <a:pt x="476084" y="530796"/>
                </a:lnTo>
                <a:lnTo>
                  <a:pt x="507085" y="518934"/>
                </a:lnTo>
                <a:lnTo>
                  <a:pt x="533514" y="494855"/>
                </a:lnTo>
                <a:lnTo>
                  <a:pt x="551916" y="455091"/>
                </a:lnTo>
                <a:lnTo>
                  <a:pt x="558812" y="396138"/>
                </a:lnTo>
                <a:lnTo>
                  <a:pt x="558812" y="5613"/>
                </a:lnTo>
                <a:close/>
              </a:path>
              <a:path w="3972559" h="534035">
                <a:moveTo>
                  <a:pt x="1094447" y="5778"/>
                </a:moveTo>
                <a:lnTo>
                  <a:pt x="602284" y="5778"/>
                </a:lnTo>
                <a:lnTo>
                  <a:pt x="602284" y="114998"/>
                </a:lnTo>
                <a:lnTo>
                  <a:pt x="784009" y="114998"/>
                </a:lnTo>
                <a:lnTo>
                  <a:pt x="784009" y="527748"/>
                </a:lnTo>
                <a:lnTo>
                  <a:pt x="912710" y="527748"/>
                </a:lnTo>
                <a:lnTo>
                  <a:pt x="912710" y="114998"/>
                </a:lnTo>
                <a:lnTo>
                  <a:pt x="1094447" y="114998"/>
                </a:lnTo>
                <a:lnTo>
                  <a:pt x="1094447" y="5778"/>
                </a:lnTo>
                <a:close/>
              </a:path>
              <a:path w="3972559" h="534035">
                <a:moveTo>
                  <a:pt x="1627581" y="5778"/>
                </a:moveTo>
                <a:lnTo>
                  <a:pt x="1135418" y="5778"/>
                </a:lnTo>
                <a:lnTo>
                  <a:pt x="1135418" y="114998"/>
                </a:lnTo>
                <a:lnTo>
                  <a:pt x="1317091" y="114998"/>
                </a:lnTo>
                <a:lnTo>
                  <a:pt x="1317091" y="527748"/>
                </a:lnTo>
                <a:lnTo>
                  <a:pt x="1445920" y="527748"/>
                </a:lnTo>
                <a:lnTo>
                  <a:pt x="1445920" y="114998"/>
                </a:lnTo>
                <a:lnTo>
                  <a:pt x="1627581" y="114998"/>
                </a:lnTo>
                <a:lnTo>
                  <a:pt x="1627581" y="5778"/>
                </a:lnTo>
                <a:close/>
              </a:path>
              <a:path w="3972559" h="534035">
                <a:moveTo>
                  <a:pt x="2316022" y="188772"/>
                </a:moveTo>
                <a:lnTo>
                  <a:pt x="2312454" y="135509"/>
                </a:lnTo>
                <a:lnTo>
                  <a:pt x="2307755" y="117005"/>
                </a:lnTo>
                <a:lnTo>
                  <a:pt x="2301570" y="92595"/>
                </a:lnTo>
                <a:lnTo>
                  <a:pt x="2283129" y="59245"/>
                </a:lnTo>
                <a:lnTo>
                  <a:pt x="2256866" y="34671"/>
                </a:lnTo>
                <a:lnTo>
                  <a:pt x="2222538" y="18097"/>
                </a:lnTo>
                <a:lnTo>
                  <a:pt x="2184616" y="9766"/>
                </a:lnTo>
                <a:lnTo>
                  <a:pt x="2184616" y="186474"/>
                </a:lnTo>
                <a:lnTo>
                  <a:pt x="2184616" y="347281"/>
                </a:lnTo>
                <a:lnTo>
                  <a:pt x="2181047" y="379285"/>
                </a:lnTo>
                <a:lnTo>
                  <a:pt x="2169718" y="400812"/>
                </a:lnTo>
                <a:lnTo>
                  <a:pt x="2149716" y="412940"/>
                </a:lnTo>
                <a:lnTo>
                  <a:pt x="2120125" y="416750"/>
                </a:lnTo>
                <a:lnTo>
                  <a:pt x="1912810" y="416750"/>
                </a:lnTo>
                <a:lnTo>
                  <a:pt x="1912810" y="117005"/>
                </a:lnTo>
                <a:lnTo>
                  <a:pt x="2120125" y="117005"/>
                </a:lnTo>
                <a:lnTo>
                  <a:pt x="2149716" y="120815"/>
                </a:lnTo>
                <a:lnTo>
                  <a:pt x="2169718" y="132969"/>
                </a:lnTo>
                <a:lnTo>
                  <a:pt x="2181047" y="154495"/>
                </a:lnTo>
                <a:lnTo>
                  <a:pt x="2184616" y="186474"/>
                </a:lnTo>
                <a:lnTo>
                  <a:pt x="2184616" y="9766"/>
                </a:lnTo>
                <a:lnTo>
                  <a:pt x="2179891" y="8724"/>
                </a:lnTo>
                <a:lnTo>
                  <a:pt x="2128659" y="5765"/>
                </a:lnTo>
                <a:lnTo>
                  <a:pt x="1784121" y="5765"/>
                </a:lnTo>
                <a:lnTo>
                  <a:pt x="1784121" y="527837"/>
                </a:lnTo>
                <a:lnTo>
                  <a:pt x="2134628" y="527837"/>
                </a:lnTo>
                <a:lnTo>
                  <a:pt x="2188108" y="524002"/>
                </a:lnTo>
                <a:lnTo>
                  <a:pt x="2230907" y="512546"/>
                </a:lnTo>
                <a:lnTo>
                  <a:pt x="2288057" y="467258"/>
                </a:lnTo>
                <a:lnTo>
                  <a:pt x="2307920" y="416750"/>
                </a:lnTo>
                <a:lnTo>
                  <a:pt x="2313216" y="392836"/>
                </a:lnTo>
                <a:lnTo>
                  <a:pt x="2316022" y="344982"/>
                </a:lnTo>
                <a:lnTo>
                  <a:pt x="2316022" y="188772"/>
                </a:lnTo>
                <a:close/>
              </a:path>
              <a:path w="3972559" h="534035">
                <a:moveTo>
                  <a:pt x="2903613" y="184607"/>
                </a:moveTo>
                <a:lnTo>
                  <a:pt x="2900603" y="133286"/>
                </a:lnTo>
                <a:lnTo>
                  <a:pt x="2891104" y="91643"/>
                </a:lnTo>
                <a:lnTo>
                  <a:pt x="2849651" y="34759"/>
                </a:lnTo>
                <a:lnTo>
                  <a:pt x="2773451" y="8788"/>
                </a:lnTo>
                <a:lnTo>
                  <a:pt x="2720492" y="5791"/>
                </a:lnTo>
                <a:lnTo>
                  <a:pt x="2396464" y="5791"/>
                </a:lnTo>
                <a:lnTo>
                  <a:pt x="2396464" y="116586"/>
                </a:lnTo>
                <a:lnTo>
                  <a:pt x="2711894" y="116586"/>
                </a:lnTo>
                <a:lnTo>
                  <a:pt x="2741485" y="120408"/>
                </a:lnTo>
                <a:lnTo>
                  <a:pt x="2761437" y="132549"/>
                </a:lnTo>
                <a:lnTo>
                  <a:pt x="2772702" y="154063"/>
                </a:lnTo>
                <a:lnTo>
                  <a:pt x="2776232" y="186004"/>
                </a:lnTo>
                <a:lnTo>
                  <a:pt x="2776309" y="204444"/>
                </a:lnTo>
                <a:lnTo>
                  <a:pt x="2776232" y="309689"/>
                </a:lnTo>
                <a:lnTo>
                  <a:pt x="2776232" y="416344"/>
                </a:lnTo>
                <a:lnTo>
                  <a:pt x="2533688" y="416344"/>
                </a:lnTo>
                <a:lnTo>
                  <a:pt x="2518968" y="414210"/>
                </a:lnTo>
                <a:lnTo>
                  <a:pt x="2505659" y="406146"/>
                </a:lnTo>
                <a:lnTo>
                  <a:pt x="2496020" y="389699"/>
                </a:lnTo>
                <a:lnTo>
                  <a:pt x="2492298" y="362407"/>
                </a:lnTo>
                <a:lnTo>
                  <a:pt x="2495994" y="335216"/>
                </a:lnTo>
                <a:lnTo>
                  <a:pt x="2505583" y="319201"/>
                </a:lnTo>
                <a:lnTo>
                  <a:pt x="2518892" y="311607"/>
                </a:lnTo>
                <a:lnTo>
                  <a:pt x="2533688" y="309689"/>
                </a:lnTo>
                <a:lnTo>
                  <a:pt x="2776232" y="309689"/>
                </a:lnTo>
                <a:lnTo>
                  <a:pt x="2776232" y="204444"/>
                </a:lnTo>
                <a:lnTo>
                  <a:pt x="2514828" y="204444"/>
                </a:lnTo>
                <a:lnTo>
                  <a:pt x="2461171" y="210045"/>
                </a:lnTo>
                <a:lnTo>
                  <a:pt x="2419477" y="227215"/>
                </a:lnTo>
                <a:lnTo>
                  <a:pt x="2389721" y="256527"/>
                </a:lnTo>
                <a:lnTo>
                  <a:pt x="2371890" y="298551"/>
                </a:lnTo>
                <a:lnTo>
                  <a:pt x="2365959" y="353872"/>
                </a:lnTo>
                <a:lnTo>
                  <a:pt x="2365959" y="378561"/>
                </a:lnTo>
                <a:lnTo>
                  <a:pt x="2372106" y="435038"/>
                </a:lnTo>
                <a:lnTo>
                  <a:pt x="2390584" y="477177"/>
                </a:lnTo>
                <a:lnTo>
                  <a:pt x="2421420" y="506006"/>
                </a:lnTo>
                <a:lnTo>
                  <a:pt x="2464625" y="522554"/>
                </a:lnTo>
                <a:lnTo>
                  <a:pt x="2520238" y="527837"/>
                </a:lnTo>
                <a:lnTo>
                  <a:pt x="2903613" y="527837"/>
                </a:lnTo>
                <a:lnTo>
                  <a:pt x="2903613" y="416344"/>
                </a:lnTo>
                <a:lnTo>
                  <a:pt x="2903613" y="309689"/>
                </a:lnTo>
                <a:lnTo>
                  <a:pt x="2903613" y="184607"/>
                </a:lnTo>
                <a:close/>
              </a:path>
              <a:path w="3972559" h="534035">
                <a:moveTo>
                  <a:pt x="3421773" y="5778"/>
                </a:moveTo>
                <a:lnTo>
                  <a:pt x="2929471" y="5778"/>
                </a:lnTo>
                <a:lnTo>
                  <a:pt x="2929471" y="114998"/>
                </a:lnTo>
                <a:lnTo>
                  <a:pt x="3111271" y="114998"/>
                </a:lnTo>
                <a:lnTo>
                  <a:pt x="3111271" y="527748"/>
                </a:lnTo>
                <a:lnTo>
                  <a:pt x="3239897" y="527748"/>
                </a:lnTo>
                <a:lnTo>
                  <a:pt x="3239897" y="114998"/>
                </a:lnTo>
                <a:lnTo>
                  <a:pt x="3421773" y="114998"/>
                </a:lnTo>
                <a:lnTo>
                  <a:pt x="3421773" y="5778"/>
                </a:lnTo>
                <a:close/>
              </a:path>
              <a:path w="3972559" h="534035">
                <a:moveTo>
                  <a:pt x="3971975" y="184607"/>
                </a:moveTo>
                <a:lnTo>
                  <a:pt x="3968978" y="133286"/>
                </a:lnTo>
                <a:lnTo>
                  <a:pt x="3959504" y="91643"/>
                </a:lnTo>
                <a:lnTo>
                  <a:pt x="3918127" y="34759"/>
                </a:lnTo>
                <a:lnTo>
                  <a:pt x="3841889" y="8788"/>
                </a:lnTo>
                <a:lnTo>
                  <a:pt x="3788841" y="5791"/>
                </a:lnTo>
                <a:lnTo>
                  <a:pt x="3464890" y="5791"/>
                </a:lnTo>
                <a:lnTo>
                  <a:pt x="3464890" y="116586"/>
                </a:lnTo>
                <a:lnTo>
                  <a:pt x="3780523" y="116586"/>
                </a:lnTo>
                <a:lnTo>
                  <a:pt x="3810050" y="120408"/>
                </a:lnTo>
                <a:lnTo>
                  <a:pt x="3829977" y="132549"/>
                </a:lnTo>
                <a:lnTo>
                  <a:pt x="3841254" y="154063"/>
                </a:lnTo>
                <a:lnTo>
                  <a:pt x="3844798" y="186004"/>
                </a:lnTo>
                <a:lnTo>
                  <a:pt x="3844798" y="204444"/>
                </a:lnTo>
                <a:lnTo>
                  <a:pt x="3844798" y="309689"/>
                </a:lnTo>
                <a:lnTo>
                  <a:pt x="3844798" y="416344"/>
                </a:lnTo>
                <a:lnTo>
                  <a:pt x="3602113" y="416344"/>
                </a:lnTo>
                <a:lnTo>
                  <a:pt x="3587419" y="414210"/>
                </a:lnTo>
                <a:lnTo>
                  <a:pt x="3574110" y="406146"/>
                </a:lnTo>
                <a:lnTo>
                  <a:pt x="3564445" y="389699"/>
                </a:lnTo>
                <a:lnTo>
                  <a:pt x="3560711" y="362407"/>
                </a:lnTo>
                <a:lnTo>
                  <a:pt x="3564420" y="335216"/>
                </a:lnTo>
                <a:lnTo>
                  <a:pt x="3574034" y="319201"/>
                </a:lnTo>
                <a:lnTo>
                  <a:pt x="3587331" y="311607"/>
                </a:lnTo>
                <a:lnTo>
                  <a:pt x="3602113" y="309689"/>
                </a:lnTo>
                <a:lnTo>
                  <a:pt x="3844798" y="309689"/>
                </a:lnTo>
                <a:lnTo>
                  <a:pt x="3844798" y="204444"/>
                </a:lnTo>
                <a:lnTo>
                  <a:pt x="3583330" y="204444"/>
                </a:lnTo>
                <a:lnTo>
                  <a:pt x="3529660" y="210045"/>
                </a:lnTo>
                <a:lnTo>
                  <a:pt x="3487966" y="227215"/>
                </a:lnTo>
                <a:lnTo>
                  <a:pt x="3458222" y="256527"/>
                </a:lnTo>
                <a:lnTo>
                  <a:pt x="3440392" y="298551"/>
                </a:lnTo>
                <a:lnTo>
                  <a:pt x="3434448" y="353872"/>
                </a:lnTo>
                <a:lnTo>
                  <a:pt x="3434448" y="378561"/>
                </a:lnTo>
                <a:lnTo>
                  <a:pt x="3440607" y="435038"/>
                </a:lnTo>
                <a:lnTo>
                  <a:pt x="3459099" y="477177"/>
                </a:lnTo>
                <a:lnTo>
                  <a:pt x="3489934" y="506006"/>
                </a:lnTo>
                <a:lnTo>
                  <a:pt x="3533114" y="522554"/>
                </a:lnTo>
                <a:lnTo>
                  <a:pt x="3588664" y="527837"/>
                </a:lnTo>
                <a:lnTo>
                  <a:pt x="3971975" y="527837"/>
                </a:lnTo>
                <a:lnTo>
                  <a:pt x="3971975" y="416344"/>
                </a:lnTo>
                <a:lnTo>
                  <a:pt x="3971975" y="309689"/>
                </a:lnTo>
                <a:lnTo>
                  <a:pt x="3971975" y="18460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Imagen 9" descr="Dibujo de un edificio&#10;&#10;Descripción generada automáticamente con confianza media">
            <a:extLst>
              <a:ext uri="{FF2B5EF4-FFF2-40B4-BE49-F238E27FC236}">
                <a16:creationId xmlns:a16="http://schemas.microsoft.com/office/drawing/2014/main" id="{C29B95CB-1E1B-4342-8462-A7B9C63684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" y="-4128"/>
            <a:ext cx="8687915" cy="695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161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Dibujo de un edificio&#10;&#10;Descripción generada automáticamente con confianza media">
            <a:extLst>
              <a:ext uri="{FF2B5EF4-FFF2-40B4-BE49-F238E27FC236}">
                <a16:creationId xmlns:a16="http://schemas.microsoft.com/office/drawing/2014/main" id="{E0EA1D1B-F5E2-46D3-A6E1-F97EF791DE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570" y="-28575"/>
            <a:ext cx="8687915" cy="6953500"/>
          </a:xfrm>
          <a:prstGeom prst="rect">
            <a:avLst/>
          </a:prstGeom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F2D8DA50-E13D-465D-8BEE-70F834E75E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52299"/>
            <a:ext cx="6827521" cy="1162843"/>
          </a:xfrm>
          <a:prstGeom prst="rect">
            <a:avLst/>
          </a:prstGeom>
        </p:spPr>
        <p:txBody>
          <a:bodyPr>
            <a:normAutofit/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es-ES" sz="2400" kern="1200" dirty="0">
                <a:solidFill>
                  <a:srgbClr val="50505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16" name="Marcador de texto 15">
            <a:extLst>
              <a:ext uri="{FF2B5EF4-FFF2-40B4-BE49-F238E27FC236}">
                <a16:creationId xmlns:a16="http://schemas.microsoft.com/office/drawing/2014/main" id="{71D5AB6B-81C7-4BE2-9222-349DEED2B4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0999" y="1667441"/>
            <a:ext cx="11539538" cy="4422641"/>
          </a:xfrm>
        </p:spPr>
        <p:txBody>
          <a:bodyPr>
            <a:normAutofit/>
          </a:bodyPr>
          <a:lstStyle>
            <a:lvl1pPr marL="0" indent="0">
              <a:buFontTx/>
              <a:buNone/>
              <a:defRPr lang="es-ES" altLang="es-ES" sz="1800" kern="1200" dirty="0" smtClean="0">
                <a:solidFill>
                  <a:srgbClr val="505050"/>
                </a:solidFill>
                <a:latin typeface="+mn-lt"/>
                <a:ea typeface="+mn-ea"/>
                <a:cs typeface="+mn-cs"/>
              </a:defRPr>
            </a:lvl1pPr>
            <a:lvl2pPr>
              <a:defRPr lang="es-ES" altLang="es-ES" sz="1600" kern="1200" dirty="0" smtClean="0">
                <a:solidFill>
                  <a:srgbClr val="505050"/>
                </a:solidFill>
                <a:latin typeface="+mn-lt"/>
                <a:ea typeface="+mn-ea"/>
                <a:cs typeface="+mn-cs"/>
              </a:defRPr>
            </a:lvl2pPr>
            <a:lvl3pPr>
              <a:defRPr lang="es-ES" altLang="es-ES" sz="1600" kern="1200" dirty="0" smtClean="0">
                <a:solidFill>
                  <a:srgbClr val="505050"/>
                </a:solidFill>
                <a:latin typeface="+mn-lt"/>
                <a:ea typeface="+mn-ea"/>
                <a:cs typeface="+mn-cs"/>
              </a:defRPr>
            </a:lvl3pPr>
            <a:lvl4pPr>
              <a:defRPr lang="es-ES" altLang="es-ES" sz="1600" kern="1200" dirty="0" smtClean="0">
                <a:solidFill>
                  <a:srgbClr val="505050"/>
                </a:solidFill>
                <a:latin typeface="+mn-lt"/>
                <a:ea typeface="+mn-ea"/>
                <a:cs typeface="+mn-cs"/>
              </a:defRPr>
            </a:lvl4pPr>
            <a:lvl5pPr>
              <a:defRPr lang="es-ES" altLang="es-ES" sz="1600" kern="1200" dirty="0" smtClean="0">
                <a:solidFill>
                  <a:srgbClr val="50505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pic>
        <p:nvPicPr>
          <p:cNvPr id="8" name="Imagen 7" descr="Logotipo&#10;&#10;Descripción generada automáticamente">
            <a:extLst>
              <a:ext uri="{FF2B5EF4-FFF2-40B4-BE49-F238E27FC236}">
                <a16:creationId xmlns:a16="http://schemas.microsoft.com/office/drawing/2014/main" id="{CF47B0E5-89CD-4E47-8C8E-146F286B9E7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7844" y="309903"/>
            <a:ext cx="1932013" cy="49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26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8EFFDD8-A6DA-5F2E-8420-4597D0BC7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07C6262-7AC9-EF1A-0E63-7E476622E5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CE9B593-AD90-A81C-3AAB-E55042D099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FE4F0A-16E3-4D19-902D-2A7118730677}" type="datetimeFigureOut">
              <a:rPr lang="es-PE" smtClean="0"/>
              <a:t>24/04/2026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E5CBD6F-2688-EF61-E474-68A1E77178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A694BD-6C58-7091-79E7-CFA9B25F31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865BE-B09F-4FEC-8360-64959F5200B6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94510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2.jpe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aratelabs/karate/tree/master/karate-demo" TargetMode="External"/><Relationship Id="rId2" Type="http://schemas.openxmlformats.org/officeDocument/2006/relationships/hyperlink" Target="https://docs.karatelabs.io/getting-started/why-karate" TargetMode="Externa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9D8FFEDC-2BC2-401E-9475-7BD57CB58E78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00671" y="5649642"/>
            <a:ext cx="6348770" cy="31849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ES" dirty="0">
                <a:solidFill>
                  <a:schemeClr val="bg1"/>
                </a:solidFill>
              </a:rPr>
              <a:t>LIMA</a:t>
            </a: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BC2011F4-0288-473A-AC21-F6DAF9E70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247" y="1570524"/>
            <a:ext cx="11350627" cy="2324101"/>
          </a:xfrm>
        </p:spPr>
        <p:txBody>
          <a:bodyPr/>
          <a:lstStyle/>
          <a:p>
            <a:pPr algn="ctr"/>
            <a:r>
              <a:rPr lang="es-PE" sz="4800" b="1" dirty="0">
                <a:solidFill>
                  <a:prstClr val="white"/>
                </a:solidFill>
                <a:latin typeface="Tw Cen MT" panose="020B0602020104020603" pitchFamily="34" charset="0"/>
              </a:rPr>
              <a:t>AUTOMATIZACIÓN DE APIS CON KARATE</a:t>
            </a:r>
            <a:endParaRPr lang="es-ES" sz="4800" dirty="0">
              <a:latin typeface="Tw Cen MT" panose="020B0602020104020603" pitchFamily="34" charset="0"/>
            </a:endParaRPr>
          </a:p>
        </p:txBody>
      </p:sp>
      <p:sp>
        <p:nvSpPr>
          <p:cNvPr id="8" name="Marcador de texto 7">
            <a:extLst>
              <a:ext uri="{FF2B5EF4-FFF2-40B4-BE49-F238E27FC236}">
                <a16:creationId xmlns:a16="http://schemas.microsoft.com/office/drawing/2014/main" id="{2FD444D2-F012-476F-A205-BF72F727B6A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s-ES" dirty="0">
                <a:latin typeface="Tw Cen MT" panose="020B0602020104020603" pitchFamily="34" charset="0"/>
              </a:rPr>
              <a:t>Fundamentos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8914208-07D6-6B7D-D078-238871D46A79}"/>
              </a:ext>
            </a:extLst>
          </p:cNvPr>
          <p:cNvSpPr txBox="1"/>
          <p:nvPr/>
        </p:nvSpPr>
        <p:spPr>
          <a:xfrm rot="19992743">
            <a:off x="6269345" y="4337229"/>
            <a:ext cx="227928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8000" b="1" dirty="0">
                <a:solidFill>
                  <a:srgbClr val="FF0000"/>
                </a:solidFill>
              </a:rPr>
              <a:t>REST</a:t>
            </a:r>
          </a:p>
        </p:txBody>
      </p:sp>
    </p:spTree>
    <p:extLst>
      <p:ext uri="{BB962C8B-B14F-4D97-AF65-F5344CB8AC3E}">
        <p14:creationId xmlns:p14="http://schemas.microsoft.com/office/powerpoint/2010/main" val="2717375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DEDB6-B3EB-0A9D-EBA0-E178AE245F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Karate: Automatización de APIS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5455CE0-9552-4F98-3F78-72CAC4F008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6584"/>
          <a:stretch/>
        </p:blipFill>
        <p:spPr>
          <a:xfrm>
            <a:off x="758059" y="4696658"/>
            <a:ext cx="10169056" cy="1695175"/>
          </a:xfrm>
          <a:prstGeom prst="rect">
            <a:avLst/>
          </a:prstGeom>
        </p:spPr>
      </p:pic>
      <p:pic>
        <p:nvPicPr>
          <p:cNvPr id="6" name="Picture 4" descr="Karate (software) - Wikipedia">
            <a:extLst>
              <a:ext uri="{FF2B5EF4-FFF2-40B4-BE49-F238E27FC236}">
                <a16:creationId xmlns:a16="http://schemas.microsoft.com/office/drawing/2014/main" id="{2AF92577-F262-E726-5D2C-7F42E2F4C9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059" y="2131975"/>
            <a:ext cx="2406650" cy="24003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Karate Framework: Testeo de APIs de Impacto | Apiumhub">
            <a:extLst>
              <a:ext uri="{FF2B5EF4-FFF2-40B4-BE49-F238E27FC236}">
                <a16:creationId xmlns:a16="http://schemas.microsoft.com/office/drawing/2014/main" id="{6BBD2662-B90E-4429-1747-155BCCA7FD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563" y="2131975"/>
            <a:ext cx="7589838" cy="24003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BECE1494-F449-4D1A-7A4D-2D9C4F4513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1451" y="1313677"/>
            <a:ext cx="9715500" cy="528358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PE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Karate es la única herramienta de código abierto que combina automatización de Pruebas de API, </a:t>
            </a:r>
            <a:r>
              <a:rPr kumimoji="0" lang="es-ES" altLang="es-PE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Mocks</a:t>
            </a:r>
            <a:r>
              <a:rPr kumimoji="0" lang="es-ES" altLang="es-PE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, Pruebas de Performance e incluso Automatización UI en un solo </a:t>
            </a:r>
            <a:r>
              <a:rPr kumimoji="0" lang="es-ES" altLang="es-PE" b="0" i="0" u="none" strike="noStrike" cap="none" normalizeH="0" baseline="0" dirty="0" err="1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framework</a:t>
            </a:r>
            <a:r>
              <a:rPr kumimoji="0" lang="es-ES" altLang="es-PE" b="0" i="0" u="none" strike="noStrike" cap="none" normalizeH="0" baseline="0" dirty="0">
                <a:ln>
                  <a:noFill/>
                </a:ln>
                <a:solidFill>
                  <a:srgbClr val="202124"/>
                </a:solidFill>
                <a:effectLst/>
                <a:latin typeface="inherit"/>
              </a:rPr>
              <a:t>.</a:t>
            </a:r>
            <a:r>
              <a:rPr kumimoji="0" lang="es-ES" altLang="es-PE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s-ES" altLang="es-PE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048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E94C3A-A995-BCAF-87D3-BCF037616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Beneficios - </a:t>
            </a:r>
            <a:r>
              <a:rPr lang="es-PE" dirty="0" err="1"/>
              <a:t>Testing</a:t>
            </a:r>
            <a:r>
              <a:rPr lang="es-PE" dirty="0"/>
              <a:t> APIS con Karate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EC80D6-F051-0225-232E-8685EB24550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0999" y="1667442"/>
            <a:ext cx="11539538" cy="4018984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s-PE" dirty="0"/>
              <a:t>Fácil de usar: sólo necesitas un archivo escrito en Gherkin .</a:t>
            </a:r>
            <a:r>
              <a:rPr lang="es-PE" dirty="0" err="1"/>
              <a:t>feature</a:t>
            </a:r>
            <a:endParaRPr lang="es-PE" dirty="0"/>
          </a:p>
          <a:p>
            <a:pPr marL="285750" indent="-285750">
              <a:buFontTx/>
              <a:buChar char="-"/>
            </a:pPr>
            <a:r>
              <a:rPr lang="es-PE" dirty="0"/>
              <a:t>Curva de aprendizaje corta</a:t>
            </a:r>
          </a:p>
          <a:p>
            <a:pPr marL="285750" indent="-285750">
              <a:buFontTx/>
              <a:buChar char="-"/>
            </a:pPr>
            <a:r>
              <a:rPr lang="es-PE" dirty="0"/>
              <a:t>Permite ejecutar muchos servicios en cadena</a:t>
            </a:r>
          </a:p>
          <a:p>
            <a:pPr marL="285750" indent="-285750">
              <a:buFontTx/>
              <a:buChar char="-"/>
            </a:pPr>
            <a:r>
              <a:rPr lang="es-PE" dirty="0"/>
              <a:t>Uso palabras clave reservadas como estándar: </a:t>
            </a:r>
            <a:r>
              <a:rPr lang="es-PE" sz="1600" dirty="0" err="1"/>
              <a:t>Given</a:t>
            </a:r>
            <a:r>
              <a:rPr lang="es-PE" sz="1600" dirty="0"/>
              <a:t>, </a:t>
            </a:r>
            <a:r>
              <a:rPr lang="es-PE" sz="1600" dirty="0" err="1"/>
              <a:t>When</a:t>
            </a:r>
            <a:r>
              <a:rPr lang="es-PE" sz="1600" dirty="0"/>
              <a:t>, </a:t>
            </a:r>
            <a:r>
              <a:rPr lang="es-PE" sz="1600" dirty="0" err="1"/>
              <a:t>Then</a:t>
            </a:r>
            <a:r>
              <a:rPr lang="es-PE" sz="1600" dirty="0"/>
              <a:t>, And, </a:t>
            </a:r>
            <a:r>
              <a:rPr lang="es-PE" sz="1600" dirty="0" err="1"/>
              <a:t>url</a:t>
            </a:r>
            <a:r>
              <a:rPr lang="es-PE" sz="1600" dirty="0"/>
              <a:t>, </a:t>
            </a:r>
            <a:r>
              <a:rPr lang="es-PE" sz="1600" dirty="0" err="1"/>
              <a:t>param</a:t>
            </a:r>
            <a:r>
              <a:rPr lang="es-PE" sz="1600" dirty="0"/>
              <a:t>, </a:t>
            </a:r>
            <a:r>
              <a:rPr lang="es-PE" sz="1600" dirty="0" err="1"/>
              <a:t>header</a:t>
            </a:r>
            <a:r>
              <a:rPr lang="es-PE" sz="1600" dirty="0"/>
              <a:t>, </a:t>
            </a:r>
            <a:r>
              <a:rPr lang="es-PE" sz="1600" dirty="0" err="1"/>
              <a:t>request</a:t>
            </a:r>
            <a:r>
              <a:rPr lang="es-PE" sz="1600" dirty="0"/>
              <a:t>, response, status, etc.</a:t>
            </a:r>
            <a:endParaRPr lang="es-PE" dirty="0"/>
          </a:p>
          <a:p>
            <a:pPr marL="285750" indent="-285750">
              <a:buFontTx/>
              <a:buChar char="-"/>
            </a:pPr>
            <a:r>
              <a:rPr lang="es-PE" dirty="0"/>
              <a:t>Ideal para Pruebas de Regresión Automatizadas</a:t>
            </a:r>
          </a:p>
          <a:p>
            <a:pPr marL="285750" indent="-285750">
              <a:buFontTx/>
              <a:buChar char="-"/>
            </a:pPr>
            <a:r>
              <a:rPr lang="es-PE" dirty="0"/>
              <a:t>Ideal para ejecutar un grupo de casos de pruebas agrupados por Escenarios</a:t>
            </a:r>
          </a:p>
          <a:p>
            <a:pPr marL="285750" indent="-285750">
              <a:buFontTx/>
              <a:buChar char="-"/>
            </a:pPr>
            <a:r>
              <a:rPr lang="es-PE" dirty="0"/>
              <a:t>Reporte intuitivo y fácil de leer</a:t>
            </a:r>
          </a:p>
          <a:p>
            <a:pPr marL="285750" indent="-285750">
              <a:buFontTx/>
              <a:buChar char="-"/>
            </a:pPr>
            <a:r>
              <a:rPr lang="es-PE" dirty="0"/>
              <a:t>Se puede incluir validaciones técnicas como tiempo de respuesta, código de error, etc.</a:t>
            </a:r>
          </a:p>
          <a:p>
            <a:pPr marL="285750" indent="-285750">
              <a:buFontTx/>
              <a:buChar char="-"/>
            </a:pPr>
            <a:r>
              <a:rPr lang="es-PE" dirty="0"/>
              <a:t>Se puede aumentar las funcionalidades usando Java y </a:t>
            </a:r>
            <a:r>
              <a:rPr lang="es-PE" dirty="0" err="1"/>
              <a:t>Javascript</a:t>
            </a:r>
            <a:endParaRPr lang="es-PE" dirty="0"/>
          </a:p>
        </p:txBody>
      </p:sp>
      <p:pic>
        <p:nvPicPr>
          <p:cNvPr id="4" name="Picture 4" descr="Karate (software) - Wikipedia">
            <a:extLst>
              <a:ext uri="{FF2B5EF4-FFF2-40B4-BE49-F238E27FC236}">
                <a16:creationId xmlns:a16="http://schemas.microsoft.com/office/drawing/2014/main" id="{AB289B0E-A71F-AED1-25AA-96636369D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1509" y="4186357"/>
            <a:ext cx="2013716" cy="200840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5">
            <a:extLst>
              <a:ext uri="{FF2B5EF4-FFF2-40B4-BE49-F238E27FC236}">
                <a16:creationId xmlns:a16="http://schemas.microsoft.com/office/drawing/2014/main" id="{2E675CE4-26E3-E030-CB35-6383E4DA33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6031177"/>
            <a:ext cx="7850291" cy="574524"/>
          </a:xfrm>
          <a:prstGeom prst="rect">
            <a:avLst/>
          </a:prstGeom>
          <a:solidFill>
            <a:srgbClr val="F8F9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ES" altLang="es-PE" sz="2100" b="0" i="1" u="none" strike="noStrike" cap="none" normalizeH="0" baseline="0" dirty="0">
                <a:ln>
                  <a:noFill/>
                </a:ln>
                <a:solidFill>
                  <a:schemeClr val="accent1"/>
                </a:solidFill>
                <a:effectLst/>
                <a:latin typeface="inherit"/>
                <a:cs typeface="Arial" panose="020B0604020202020204" pitchFamily="34" charset="0"/>
              </a:rPr>
              <a:t>Sin conocimientos de programación se pueden escribir pruebas de Apis.</a:t>
            </a:r>
            <a:endParaRPr kumimoji="0" lang="es-ES" altLang="es-PE" sz="800" b="0" i="1" u="none" strike="noStrike" cap="none" normalizeH="0" baseline="0" dirty="0">
              <a:ln>
                <a:noFill/>
              </a:ln>
              <a:solidFill>
                <a:schemeClr val="accent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ES" altLang="es-P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2F29271C-6E1F-67B1-0F1B-E199E90EC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6556807"/>
            <a:ext cx="1917700" cy="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10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Google Sans"/>
                <a:cs typeface="Arial" panose="020B0604020202020204" pitchFamily="34" charset="0"/>
              </a:rPr>
              <a:t>Buscar e</a:t>
            </a:r>
            <a:endParaRPr kumimoji="0" lang="es-PE" altLang="es-P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1541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301957-EBCE-8BBB-2219-BCC13AF5E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b="1" i="0" dirty="0" err="1">
                <a:solidFill>
                  <a:srgbClr val="24292F"/>
                </a:solidFill>
                <a:effectLst/>
                <a:latin typeface="-apple-system"/>
              </a:rPr>
              <a:t>Hello</a:t>
            </a:r>
            <a:r>
              <a:rPr lang="es-PE" b="1" i="0" dirty="0">
                <a:solidFill>
                  <a:srgbClr val="24292F"/>
                </a:solidFill>
                <a:effectLst/>
                <a:latin typeface="-apple-system"/>
              </a:rPr>
              <a:t> </a:t>
            </a:r>
            <a:r>
              <a:rPr lang="es-PE" b="1" i="0" dirty="0" err="1">
                <a:solidFill>
                  <a:srgbClr val="24292F"/>
                </a:solidFill>
                <a:effectLst/>
                <a:latin typeface="-apple-system"/>
              </a:rPr>
              <a:t>World</a:t>
            </a:r>
            <a:endParaRPr lang="es-PE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F3C973D-29FF-B2FF-62D9-C626BA662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040" y="1653207"/>
            <a:ext cx="9763760" cy="4592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2790A94F-CE5D-75AC-B810-A76F17917DF1}"/>
              </a:ext>
            </a:extLst>
          </p:cNvPr>
          <p:cNvSpPr txBox="1"/>
          <p:nvPr/>
        </p:nvSpPr>
        <p:spPr>
          <a:xfrm>
            <a:off x="800100" y="1415142"/>
            <a:ext cx="213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dirty="0" err="1">
                <a:solidFill>
                  <a:srgbClr val="C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Feature</a:t>
            </a:r>
            <a:r>
              <a:rPr lang="es-PE" sz="1600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s-PE" sz="1600" dirty="0" err="1">
                <a:latin typeface="Verdana" panose="020B0604030504040204" pitchFamily="34" charset="0"/>
                <a:ea typeface="Verdana" panose="020B0604030504040204" pitchFamily="34" charset="0"/>
              </a:rPr>
              <a:t>Pet</a:t>
            </a:r>
            <a:endParaRPr lang="es-PE" sz="16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09953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94BFCCA4-109C-4B21-816E-144FE75C3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1BD87E7-DB0B-EDC7-8B0A-1663B3592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18" y="643465"/>
            <a:ext cx="3895359" cy="18466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dirty="0">
                <a:solidFill>
                  <a:schemeClr val="tx1"/>
                </a:solidFill>
                <a:latin typeface="+mj-lt"/>
              </a:rPr>
              <a:t>REQUERIMIENTOS</a:t>
            </a:r>
          </a:p>
        </p:txBody>
      </p:sp>
      <p:sp>
        <p:nvSpPr>
          <p:cNvPr id="1037" name="sketch line">
            <a:extLst>
              <a:ext uri="{FF2B5EF4-FFF2-40B4-BE49-F238E27FC236}">
                <a16:creationId xmlns:a16="http://schemas.microsoft.com/office/drawing/2014/main" id="{0059B5C0-FEC8-4370-AF45-02E3AEF6FA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659144"/>
            <a:ext cx="3566160" cy="18288"/>
          </a:xfrm>
          <a:custGeom>
            <a:avLst/>
            <a:gdLst>
              <a:gd name="csX0" fmla="*/ 0 w 3566160"/>
              <a:gd name="csY0" fmla="*/ 0 h 18288"/>
              <a:gd name="csX1" fmla="*/ 665683 w 3566160"/>
              <a:gd name="csY1" fmla="*/ 0 h 18288"/>
              <a:gd name="csX2" fmla="*/ 1331366 w 3566160"/>
              <a:gd name="csY2" fmla="*/ 0 h 18288"/>
              <a:gd name="csX3" fmla="*/ 1818742 w 3566160"/>
              <a:gd name="csY3" fmla="*/ 0 h 18288"/>
              <a:gd name="csX4" fmla="*/ 2413102 w 3566160"/>
              <a:gd name="csY4" fmla="*/ 0 h 18288"/>
              <a:gd name="csX5" fmla="*/ 2936138 w 3566160"/>
              <a:gd name="csY5" fmla="*/ 0 h 18288"/>
              <a:gd name="csX6" fmla="*/ 3566160 w 3566160"/>
              <a:gd name="csY6" fmla="*/ 0 h 18288"/>
              <a:gd name="csX7" fmla="*/ 3566160 w 3566160"/>
              <a:gd name="csY7" fmla="*/ 18288 h 18288"/>
              <a:gd name="csX8" fmla="*/ 2971800 w 3566160"/>
              <a:gd name="csY8" fmla="*/ 18288 h 18288"/>
              <a:gd name="csX9" fmla="*/ 2448763 w 3566160"/>
              <a:gd name="csY9" fmla="*/ 18288 h 18288"/>
              <a:gd name="csX10" fmla="*/ 1854403 w 3566160"/>
              <a:gd name="csY10" fmla="*/ 18288 h 18288"/>
              <a:gd name="csX11" fmla="*/ 1295705 w 3566160"/>
              <a:gd name="csY11" fmla="*/ 18288 h 18288"/>
              <a:gd name="csX12" fmla="*/ 772668 w 3566160"/>
              <a:gd name="csY12" fmla="*/ 18288 h 18288"/>
              <a:gd name="csX13" fmla="*/ 0 w 3566160"/>
              <a:gd name="csY13" fmla="*/ 18288 h 18288"/>
              <a:gd name="csX14" fmla="*/ 0 w 356616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566160" h="18288" fill="none" extrusionOk="0">
                <a:moveTo>
                  <a:pt x="0" y="0"/>
                </a:moveTo>
                <a:cubicBezTo>
                  <a:pt x="222644" y="15773"/>
                  <a:pt x="447078" y="-30288"/>
                  <a:pt x="665683" y="0"/>
                </a:cubicBezTo>
                <a:cubicBezTo>
                  <a:pt x="884288" y="30288"/>
                  <a:pt x="1132425" y="-6167"/>
                  <a:pt x="1331366" y="0"/>
                </a:cubicBezTo>
                <a:cubicBezTo>
                  <a:pt x="1530307" y="6167"/>
                  <a:pt x="1680942" y="17562"/>
                  <a:pt x="1818742" y="0"/>
                </a:cubicBezTo>
                <a:cubicBezTo>
                  <a:pt x="1956542" y="-17562"/>
                  <a:pt x="2130227" y="23032"/>
                  <a:pt x="2413102" y="0"/>
                </a:cubicBezTo>
                <a:cubicBezTo>
                  <a:pt x="2695977" y="-23032"/>
                  <a:pt x="2679988" y="-13260"/>
                  <a:pt x="2936138" y="0"/>
                </a:cubicBezTo>
                <a:cubicBezTo>
                  <a:pt x="3192288" y="13260"/>
                  <a:pt x="3378668" y="16268"/>
                  <a:pt x="3566160" y="0"/>
                </a:cubicBezTo>
                <a:cubicBezTo>
                  <a:pt x="3566199" y="7328"/>
                  <a:pt x="3566779" y="9982"/>
                  <a:pt x="3566160" y="18288"/>
                </a:cubicBezTo>
                <a:cubicBezTo>
                  <a:pt x="3315478" y="45899"/>
                  <a:pt x="3188272" y="-7574"/>
                  <a:pt x="2971800" y="18288"/>
                </a:cubicBezTo>
                <a:cubicBezTo>
                  <a:pt x="2755328" y="44150"/>
                  <a:pt x="2598570" y="34692"/>
                  <a:pt x="2448763" y="18288"/>
                </a:cubicBezTo>
                <a:cubicBezTo>
                  <a:pt x="2298956" y="1884"/>
                  <a:pt x="2011344" y="-7043"/>
                  <a:pt x="1854403" y="18288"/>
                </a:cubicBezTo>
                <a:cubicBezTo>
                  <a:pt x="1697462" y="43619"/>
                  <a:pt x="1444994" y="618"/>
                  <a:pt x="1295705" y="18288"/>
                </a:cubicBezTo>
                <a:cubicBezTo>
                  <a:pt x="1146416" y="35958"/>
                  <a:pt x="965401" y="42167"/>
                  <a:pt x="772668" y="18288"/>
                </a:cubicBezTo>
                <a:cubicBezTo>
                  <a:pt x="579935" y="-5591"/>
                  <a:pt x="352420" y="-19381"/>
                  <a:pt x="0" y="18288"/>
                </a:cubicBezTo>
                <a:cubicBezTo>
                  <a:pt x="-593" y="9736"/>
                  <a:pt x="244" y="6610"/>
                  <a:pt x="0" y="0"/>
                </a:cubicBezTo>
                <a:close/>
              </a:path>
              <a:path w="3566160" h="18288" stroke="0" extrusionOk="0">
                <a:moveTo>
                  <a:pt x="0" y="0"/>
                </a:moveTo>
                <a:cubicBezTo>
                  <a:pt x="169947" y="-5008"/>
                  <a:pt x="340602" y="-17518"/>
                  <a:pt x="594360" y="0"/>
                </a:cubicBezTo>
                <a:cubicBezTo>
                  <a:pt x="848118" y="17518"/>
                  <a:pt x="997921" y="8866"/>
                  <a:pt x="1224382" y="0"/>
                </a:cubicBezTo>
                <a:cubicBezTo>
                  <a:pt x="1450843" y="-8866"/>
                  <a:pt x="1572343" y="8392"/>
                  <a:pt x="1783080" y="0"/>
                </a:cubicBezTo>
                <a:cubicBezTo>
                  <a:pt x="1993817" y="-8392"/>
                  <a:pt x="2266728" y="2126"/>
                  <a:pt x="2448763" y="0"/>
                </a:cubicBezTo>
                <a:cubicBezTo>
                  <a:pt x="2630798" y="-2126"/>
                  <a:pt x="2815508" y="-13843"/>
                  <a:pt x="3043123" y="0"/>
                </a:cubicBezTo>
                <a:cubicBezTo>
                  <a:pt x="3270738" y="13843"/>
                  <a:pt x="3420568" y="2184"/>
                  <a:pt x="3566160" y="0"/>
                </a:cubicBezTo>
                <a:cubicBezTo>
                  <a:pt x="3566487" y="8595"/>
                  <a:pt x="3566088" y="13110"/>
                  <a:pt x="3566160" y="18288"/>
                </a:cubicBezTo>
                <a:cubicBezTo>
                  <a:pt x="3421748" y="9323"/>
                  <a:pt x="3176383" y="-3939"/>
                  <a:pt x="2971800" y="18288"/>
                </a:cubicBezTo>
                <a:cubicBezTo>
                  <a:pt x="2767217" y="40515"/>
                  <a:pt x="2590769" y="4336"/>
                  <a:pt x="2306117" y="18288"/>
                </a:cubicBezTo>
                <a:cubicBezTo>
                  <a:pt x="2021465" y="32240"/>
                  <a:pt x="1860727" y="-9280"/>
                  <a:pt x="1676095" y="18288"/>
                </a:cubicBezTo>
                <a:cubicBezTo>
                  <a:pt x="1491463" y="45856"/>
                  <a:pt x="1329173" y="5765"/>
                  <a:pt x="1153058" y="18288"/>
                </a:cubicBezTo>
                <a:cubicBezTo>
                  <a:pt x="976943" y="30811"/>
                  <a:pt x="895178" y="4751"/>
                  <a:pt x="665683" y="18288"/>
                </a:cubicBezTo>
                <a:cubicBezTo>
                  <a:pt x="436189" y="31825"/>
                  <a:pt x="302924" y="2002"/>
                  <a:pt x="0" y="18288"/>
                </a:cubicBezTo>
                <a:cubicBezTo>
                  <a:pt x="822" y="10564"/>
                  <a:pt x="-23" y="457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44897650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FC281F-60EF-A40E-3A22-0E65C8860F3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0936" y="2807167"/>
            <a:ext cx="3895522" cy="3386399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Java JDK (</a:t>
            </a:r>
            <a:r>
              <a:rPr lang="en-US" sz="2200" dirty="0" err="1">
                <a:solidFill>
                  <a:schemeClr val="tx1"/>
                </a:solidFill>
              </a:rPr>
              <a:t>preferencia</a:t>
            </a:r>
            <a:r>
              <a:rPr lang="en-US" sz="2200" dirty="0">
                <a:solidFill>
                  <a:schemeClr val="tx1"/>
                </a:solidFill>
              </a:rPr>
              <a:t> 1.8)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IntelliJ Community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Maven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Postman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5A13ECE-4AC2-6D7E-EE07-B940CA3236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92624" y="342900"/>
            <a:ext cx="3099816" cy="3099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98DF95C-5D32-8B91-5186-B79AFB4737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47888" y="1054964"/>
            <a:ext cx="3785616" cy="8618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Logotipo&#10;&#10;Descripción generada automáticamente con confianza baja">
            <a:extLst>
              <a:ext uri="{FF2B5EF4-FFF2-40B4-BE49-F238E27FC236}">
                <a16:creationId xmlns:a16="http://schemas.microsoft.com/office/drawing/2014/main" id="{13281BCA-72CD-E137-927D-A295DFD9A6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992624" y="4514073"/>
            <a:ext cx="3099816" cy="960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18C7DED5-49A0-9EEE-9B21-DF46A17CB6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247888" y="3418586"/>
            <a:ext cx="3785616" cy="2328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8272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159340-AF1F-D4A2-636D-1B67D5EE4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Proyecto de Prueba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B3EA4E8-6639-D117-D15B-D4965142D393}"/>
              </a:ext>
            </a:extLst>
          </p:cNvPr>
          <p:cNvSpPr txBox="1"/>
          <p:nvPr/>
        </p:nvSpPr>
        <p:spPr>
          <a:xfrm>
            <a:off x="3688080" y="1730923"/>
            <a:ext cx="78130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Descargar </a:t>
            </a:r>
            <a:r>
              <a:rPr lang="es-PE" b="1" dirty="0">
                <a:solidFill>
                  <a:schemeClr val="accent1"/>
                </a:solidFill>
              </a:rPr>
              <a:t>Karate.zip </a:t>
            </a:r>
            <a:r>
              <a:rPr lang="es-PE" dirty="0"/>
              <a:t>y </a:t>
            </a:r>
            <a:r>
              <a:rPr lang="es-PE" dirty="0" err="1"/>
              <a:t>Click</a:t>
            </a:r>
            <a:r>
              <a:rPr lang="es-PE" dirty="0"/>
              <a:t> derecho y seleccionar “Extraer Aquí”.</a:t>
            </a:r>
          </a:p>
          <a:p>
            <a:r>
              <a:rPr lang="es-PE" dirty="0"/>
              <a:t>Se debe mostrar 1 sola carpeta llamada Karate conteniendo sus archivos:</a:t>
            </a:r>
          </a:p>
        </p:txBody>
      </p:sp>
      <p:graphicFrame>
        <p:nvGraphicFramePr>
          <p:cNvPr id="8" name="Objeto 7">
            <a:extLst>
              <a:ext uri="{FF2B5EF4-FFF2-40B4-BE49-F238E27FC236}">
                <a16:creationId xmlns:a16="http://schemas.microsoft.com/office/drawing/2014/main" id="{C4018B12-D31D-3E29-B839-17AF09D553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174352"/>
              </p:ext>
            </p:extLst>
          </p:nvPr>
        </p:nvGraphicFramePr>
        <p:xfrm>
          <a:off x="788988" y="1508125"/>
          <a:ext cx="2079625" cy="183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Objeto empaquetador del shell" showAsIcon="1" r:id="rId2" imgW="834480" imgH="736560" progId="Package">
                  <p:embed/>
                </p:oleObj>
              </mc:Choice>
              <mc:Fallback>
                <p:oleObj name="Objeto empaquetador del shell" showAsIcon="1" r:id="rId2" imgW="834480" imgH="736560" progId="Package">
                  <p:embed/>
                  <p:pic>
                    <p:nvPicPr>
                      <p:cNvPr id="8" name="Objeto 7">
                        <a:extLst>
                          <a:ext uri="{FF2B5EF4-FFF2-40B4-BE49-F238E27FC236}">
                            <a16:creationId xmlns:a16="http://schemas.microsoft.com/office/drawing/2014/main" id="{C4018B12-D31D-3E29-B839-17AF09D553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88988" y="1508125"/>
                        <a:ext cx="2079625" cy="1833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833BAEF9-D462-70E5-0945-2C92B04E7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59" y="2546985"/>
            <a:ext cx="4848225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599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81E7CF-700F-8B8F-8B7D-AB8F22900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err="1"/>
              <a:t>Plugins</a:t>
            </a:r>
            <a:r>
              <a:rPr lang="es-PE" dirty="0"/>
              <a:t> para </a:t>
            </a:r>
            <a:r>
              <a:rPr lang="es-PE" dirty="0" err="1"/>
              <a:t>Intellij</a:t>
            </a:r>
            <a:r>
              <a:rPr lang="es-PE" dirty="0"/>
              <a:t> Idea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EB7E7D-DFDD-C8F1-4471-F4BEC84A75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0999" y="1373355"/>
            <a:ext cx="11539538" cy="1342459"/>
          </a:xfrm>
        </p:spPr>
        <p:txBody>
          <a:bodyPr/>
          <a:lstStyle/>
          <a:p>
            <a:r>
              <a:rPr lang="es-PE" dirty="0"/>
              <a:t>Ingresamos a FILE / SETTINGS / PLUGINS y verificamos que tengamos instalado:</a:t>
            </a:r>
          </a:p>
          <a:p>
            <a:pPr marL="971550" lvl="1" indent="-285750">
              <a:buFontTx/>
              <a:buChar char="-"/>
            </a:pPr>
            <a:r>
              <a:rPr lang="es-PE" dirty="0" err="1"/>
              <a:t>Cucumber</a:t>
            </a:r>
            <a:r>
              <a:rPr lang="es-PE" dirty="0"/>
              <a:t> </a:t>
            </a:r>
            <a:r>
              <a:rPr lang="es-PE" dirty="0" err="1"/>
              <a:t>for</a:t>
            </a:r>
            <a:r>
              <a:rPr lang="es-PE" dirty="0"/>
              <a:t> Java</a:t>
            </a:r>
          </a:p>
          <a:p>
            <a:pPr marL="971550" lvl="1" indent="-285750">
              <a:buFontTx/>
              <a:buChar char="-"/>
            </a:pPr>
            <a:r>
              <a:rPr lang="es-PE" dirty="0"/>
              <a:t>Gherkin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4B1629E-8961-AAA2-CE31-B6951269E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137" y="2636670"/>
            <a:ext cx="7705725" cy="2847975"/>
          </a:xfrm>
          <a:prstGeom prst="rect">
            <a:avLst/>
          </a:prstGeom>
        </p:spPr>
      </p:pic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EEB77468-D682-EC5E-BB74-DD5123EF3E72}"/>
              </a:ext>
            </a:extLst>
          </p:cNvPr>
          <p:cNvSpPr txBox="1">
            <a:spLocks/>
          </p:cNvSpPr>
          <p:nvPr/>
        </p:nvSpPr>
        <p:spPr>
          <a:xfrm>
            <a:off x="652462" y="5934471"/>
            <a:ext cx="11539538" cy="428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s-ES" altLang="es-ES" sz="1800" kern="1200" dirty="0" smtClean="0">
                <a:solidFill>
                  <a:srgbClr val="50505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altLang="es-ES" sz="1600" kern="1200" dirty="0" smtClean="0">
                <a:solidFill>
                  <a:srgbClr val="50505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altLang="es-ES" sz="1600" kern="1200" dirty="0" smtClean="0">
                <a:solidFill>
                  <a:srgbClr val="50505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altLang="es-ES" sz="1600" kern="1200" dirty="0" smtClean="0">
                <a:solidFill>
                  <a:srgbClr val="50505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altLang="es-ES" sz="1600" kern="1200" dirty="0" smtClean="0">
                <a:solidFill>
                  <a:srgbClr val="50505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sz="1600" dirty="0">
                <a:solidFill>
                  <a:schemeClr val="bg1">
                    <a:lumMod val="50000"/>
                  </a:schemeClr>
                </a:solidFill>
              </a:rPr>
              <a:t>Nota: Después de instalar los </a:t>
            </a:r>
            <a:r>
              <a:rPr lang="es-PE" sz="1600" dirty="0" err="1">
                <a:solidFill>
                  <a:schemeClr val="bg1">
                    <a:lumMod val="50000"/>
                  </a:schemeClr>
                </a:solidFill>
              </a:rPr>
              <a:t>plugins</a:t>
            </a:r>
            <a:r>
              <a:rPr lang="es-PE" sz="1600" dirty="0">
                <a:solidFill>
                  <a:schemeClr val="bg1">
                    <a:lumMod val="50000"/>
                  </a:schemeClr>
                </a:solidFill>
              </a:rPr>
              <a:t> reinician el IDE</a:t>
            </a:r>
          </a:p>
        </p:txBody>
      </p:sp>
    </p:spTree>
    <p:extLst>
      <p:ext uri="{BB962C8B-B14F-4D97-AF65-F5344CB8AC3E}">
        <p14:creationId xmlns:p14="http://schemas.microsoft.com/office/powerpoint/2010/main" val="620974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32D8FF-0D63-DF8F-EF3E-266C80013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Abrimos el Proyecto con </a:t>
            </a:r>
            <a:r>
              <a:rPr lang="es-PE" dirty="0" err="1"/>
              <a:t>Intellij</a:t>
            </a:r>
            <a:endParaRPr lang="es-PE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60E970-6CD0-A9D1-D692-4574302D9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76543"/>
            <a:ext cx="10363200" cy="554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513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B70A6C-DA0B-B206-9EA5-020BB6EBF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Ejecución del Proyecto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F44A5AD-4082-DF90-A7C8-FA907EA95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12" y="1415143"/>
            <a:ext cx="6914351" cy="245581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632D8B6-6D30-398A-A293-17A626827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613" y="4236719"/>
            <a:ext cx="6912552" cy="213360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3894D17-DA8E-E8FF-AC3A-5CA638435ED5}"/>
              </a:ext>
            </a:extLst>
          </p:cNvPr>
          <p:cNvSpPr txBox="1"/>
          <p:nvPr/>
        </p:nvSpPr>
        <p:spPr>
          <a:xfrm>
            <a:off x="7816879" y="2225040"/>
            <a:ext cx="39077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/>
              <a:t>1era Forma: </a:t>
            </a:r>
            <a:r>
              <a:rPr lang="es-PE" dirty="0"/>
              <a:t>Desde el archivo .</a:t>
            </a:r>
            <a:r>
              <a:rPr lang="es-PE" dirty="0" err="1"/>
              <a:t>feature</a:t>
            </a:r>
            <a:r>
              <a:rPr lang="es-PE" dirty="0"/>
              <a:t> damos clic derecho en el titulo del </a:t>
            </a:r>
            <a:r>
              <a:rPr lang="es-PE" dirty="0" err="1"/>
              <a:t>Feature</a:t>
            </a:r>
            <a:r>
              <a:rPr lang="es-PE" dirty="0"/>
              <a:t> o el título del Escenario, según lo que queramos lanzar.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45F538A-0995-5F3F-DB22-F5025E2B8773}"/>
              </a:ext>
            </a:extLst>
          </p:cNvPr>
          <p:cNvSpPr txBox="1"/>
          <p:nvPr/>
        </p:nvSpPr>
        <p:spPr>
          <a:xfrm>
            <a:off x="7816879" y="4521200"/>
            <a:ext cx="39077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/>
              <a:t>2da Forma: </a:t>
            </a:r>
            <a:r>
              <a:rPr lang="es-PE" dirty="0"/>
              <a:t>Desde el menú superior derecho, seleccionamos el titulo del Escenario o el </a:t>
            </a:r>
            <a:r>
              <a:rPr lang="es-PE" dirty="0" err="1"/>
              <a:t>Feature</a:t>
            </a:r>
            <a:r>
              <a:rPr lang="es-PE" dirty="0"/>
              <a:t>, y luego pulsamos en el botón Play.</a:t>
            </a:r>
          </a:p>
        </p:txBody>
      </p:sp>
    </p:spTree>
    <p:extLst>
      <p:ext uri="{BB962C8B-B14F-4D97-AF65-F5344CB8AC3E}">
        <p14:creationId xmlns:p14="http://schemas.microsoft.com/office/powerpoint/2010/main" val="8169429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220AB-D65E-9BAD-E3B2-89B7D4CCD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Reporte de Ejecución de Karate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ABC0E02-9CC3-FF5D-CA85-55781AF116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289193"/>
            <a:ext cx="8972549" cy="4752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151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1F601-70B8-0B5D-CC15-4B41F8E07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Reporte de Karate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858AE6F-1CFB-ACAC-411E-45214EA74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99" y="1281988"/>
            <a:ext cx="10078720" cy="481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670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1F601-70B8-0B5D-CC15-4B41F8E07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Detalle de Ejecución del Escenario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426A5C4-A016-477A-80A3-29A4F9F56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1235027"/>
            <a:ext cx="10241280" cy="5045964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129188A0-CA8B-B0FF-53D6-778ADD575F0A}"/>
              </a:ext>
            </a:extLst>
          </p:cNvPr>
          <p:cNvSpPr txBox="1"/>
          <p:nvPr/>
        </p:nvSpPr>
        <p:spPr>
          <a:xfrm>
            <a:off x="6278880" y="3972560"/>
            <a:ext cx="34950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400" b="1" dirty="0"/>
              <a:t>Paso a Paso muestra en VERDE lo ejecutado correctamente, o en rojo si da error.</a:t>
            </a:r>
          </a:p>
        </p:txBody>
      </p:sp>
    </p:spTree>
    <p:extLst>
      <p:ext uri="{BB962C8B-B14F-4D97-AF65-F5344CB8AC3E}">
        <p14:creationId xmlns:p14="http://schemas.microsoft.com/office/powerpoint/2010/main" val="4019662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053293-8BB9-41CC-9497-E59C13C5B6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Ejemplo Básico 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0644554-723B-CC88-8711-5843222ECDFE}"/>
              </a:ext>
            </a:extLst>
          </p:cNvPr>
          <p:cNvSpPr txBox="1"/>
          <p:nvPr/>
        </p:nvSpPr>
        <p:spPr>
          <a:xfrm>
            <a:off x="552451" y="2032213"/>
            <a:ext cx="430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0" i="0" dirty="0">
                <a:solidFill>
                  <a:srgbClr val="212121"/>
                </a:solidFill>
                <a:effectLst/>
                <a:latin typeface="Inter"/>
              </a:rPr>
              <a:t>https://petstore.swagger.io/v2/pet/2</a:t>
            </a:r>
            <a:endParaRPr lang="es-PE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7A4911D-2F0F-BDFF-9E36-50929C6CAC86}"/>
              </a:ext>
            </a:extLst>
          </p:cNvPr>
          <p:cNvSpPr txBox="1"/>
          <p:nvPr/>
        </p:nvSpPr>
        <p:spPr>
          <a:xfrm>
            <a:off x="485775" y="1601692"/>
            <a:ext cx="36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URL REQUEST: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FB90BAC-81A5-3E31-E690-315FF1C841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451" y="2462734"/>
            <a:ext cx="5051050" cy="3682074"/>
          </a:xfrm>
          <a:prstGeom prst="rect">
            <a:avLst/>
          </a:prstGeom>
        </p:spPr>
      </p:pic>
      <p:sp>
        <p:nvSpPr>
          <p:cNvPr id="17" name="Rectangle 2">
            <a:extLst>
              <a:ext uri="{FF2B5EF4-FFF2-40B4-BE49-F238E27FC236}">
                <a16:creationId xmlns:a16="http://schemas.microsoft.com/office/drawing/2014/main" id="{B750D76B-F88E-4E6F-9A51-974CD0959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27662"/>
            <a:ext cx="5410199" cy="181588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Feature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 Funcionalidades de Mascota </a:t>
            </a:r>
            <a:r>
              <a:rPr kumimoji="0" lang="es-PE" altLang="es-PE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PetStore</a:t>
            </a:r>
            <a:b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</a:t>
            </a:r>
            <a:r>
              <a:rPr kumimoji="0" lang="es-PE" altLang="es-PE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Scenario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 Consulta de Mascota</a:t>
            </a:r>
            <a:b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s-PE" altLang="es-PE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Given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es-PE" altLang="es-PE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url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"https://petstore.swagger.io/v2"</a:t>
            </a:r>
            <a:b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</a:b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    </a:t>
            </a:r>
            <a:r>
              <a:rPr lang="es-PE" altLang="es-PE" sz="1600" dirty="0">
                <a:solidFill>
                  <a:srgbClr val="CC7832"/>
                </a:solidFill>
                <a:latin typeface="JetBrains Mono"/>
              </a:rPr>
              <a:t>A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nd </a:t>
            </a:r>
            <a:r>
              <a:rPr kumimoji="0" lang="es-PE" altLang="es-PE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path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"/</a:t>
            </a:r>
            <a:r>
              <a:rPr kumimoji="0" lang="es-PE" altLang="es-PE" sz="1600" b="1" i="0" u="none" strike="noStrike" cap="none" normalizeH="0" baseline="0" dirty="0" err="1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pet</a:t>
            </a: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/2"</a:t>
            </a:r>
            <a:b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</a:b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    </a:t>
            </a:r>
            <a:r>
              <a:rPr kumimoji="0" lang="es-PE" altLang="es-PE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When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es-PE" altLang="es-PE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method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kumimoji="0" lang="es-PE" altLang="es-PE" sz="1600" b="1" i="0" u="none" strike="noStrike" cap="none" normalizeH="0" baseline="0" dirty="0" err="1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get</a:t>
            </a:r>
            <a:b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</a:b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    </a:t>
            </a:r>
            <a:r>
              <a:rPr kumimoji="0" lang="es-PE" altLang="es-PE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Then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status </a:t>
            </a: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200</a:t>
            </a:r>
            <a:b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</a:b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    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And </a:t>
            </a:r>
            <a:r>
              <a:rPr kumimoji="0" lang="es-PE" altLang="es-PE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print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response.name</a:t>
            </a:r>
            <a:endParaRPr kumimoji="0" lang="es-PE" altLang="es-PE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C29E1D26-2870-8EAD-8F68-19848DFFA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999" y="3561937"/>
            <a:ext cx="5410200" cy="2800767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Feature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 Funcionalidades de Mascota </a:t>
            </a:r>
            <a:r>
              <a:rPr kumimoji="0" lang="es-PE" altLang="es-PE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PetStore</a:t>
            </a:r>
            <a:b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</a:t>
            </a:r>
            <a:r>
              <a:rPr kumimoji="0" lang="es-PE" altLang="es-PE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Scenario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es-PE" altLang="es-PE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Outline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 Consulta de Mascota</a:t>
            </a:r>
            <a:b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s-PE" altLang="es-PE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Given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es-PE" altLang="es-PE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url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"https://petstore.swagger.io/v2"</a:t>
            </a:r>
            <a:b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</a:b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    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And </a:t>
            </a:r>
            <a:r>
              <a:rPr kumimoji="0" lang="es-PE" altLang="es-PE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path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"/</a:t>
            </a:r>
            <a:r>
              <a:rPr kumimoji="0" lang="es-PE" altLang="es-PE" sz="1600" b="1" i="0" u="none" strike="noStrike" cap="none" normalizeH="0" baseline="0" dirty="0" err="1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pet</a:t>
            </a: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/&lt;</a:t>
            </a:r>
            <a:r>
              <a:rPr kumimoji="0" lang="es-PE" altLang="es-PE" sz="1600" b="1" i="0" u="none" strike="noStrike" cap="none" normalizeH="0" baseline="0" dirty="0" err="1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idMascota</a:t>
            </a: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&gt;"</a:t>
            </a:r>
            <a:b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</a:b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    </a:t>
            </a:r>
            <a:r>
              <a:rPr kumimoji="0" lang="es-PE" altLang="es-PE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When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es-PE" altLang="es-PE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method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kumimoji="0" lang="es-PE" altLang="es-PE" sz="1600" b="1" i="0" u="none" strike="noStrike" cap="none" normalizeH="0" baseline="0" dirty="0" err="1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get</a:t>
            </a:r>
            <a:b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</a:b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    </a:t>
            </a:r>
            <a:r>
              <a:rPr kumimoji="0" lang="es-PE" altLang="es-PE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Then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status </a:t>
            </a: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200</a:t>
            </a:r>
            <a:b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</a:b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    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And </a:t>
            </a:r>
            <a:r>
              <a:rPr kumimoji="0" lang="es-PE" altLang="es-PE" sz="1600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print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response.name</a:t>
            </a:r>
            <a:b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</a:b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    </a:t>
            </a:r>
            <a:r>
              <a:rPr kumimoji="0" lang="es-PE" altLang="es-PE" sz="1600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Examples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|</a:t>
            </a:r>
            <a:r>
              <a:rPr kumimoji="0" lang="es-PE" altLang="es-PE" sz="1600" b="1" i="0" u="none" strike="noStrike" cap="none" normalizeH="0" baseline="0" dirty="0" err="1">
                <a:ln>
                  <a:noFill/>
                </a:ln>
                <a:solidFill>
                  <a:srgbClr val="9876AA"/>
                </a:solidFill>
                <a:effectLst/>
                <a:latin typeface="JetBrains Mono"/>
              </a:rPr>
              <a:t>idMascota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|</a:t>
            </a:r>
            <a:b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|</a:t>
            </a: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2        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|</a:t>
            </a:r>
            <a:b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</a:b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   |</a:t>
            </a:r>
            <a:r>
              <a:rPr kumimoji="0" lang="es-PE" altLang="es-PE" sz="16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1        </a:t>
            </a:r>
            <a:r>
              <a:rPr kumimoji="0" lang="es-PE" altLang="es-PE" sz="1600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|</a:t>
            </a:r>
            <a:endParaRPr kumimoji="0" lang="es-PE" altLang="es-PE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CBF2A70-7B6F-B7F8-520A-0095C7F65608}"/>
              </a:ext>
            </a:extLst>
          </p:cNvPr>
          <p:cNvSpPr txBox="1"/>
          <p:nvPr/>
        </p:nvSpPr>
        <p:spPr>
          <a:xfrm>
            <a:off x="6094344" y="858330"/>
            <a:ext cx="3385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1 </a:t>
            </a:r>
            <a:r>
              <a:rPr lang="es-PE" dirty="0" err="1"/>
              <a:t>Scenario</a:t>
            </a:r>
            <a:r>
              <a:rPr lang="es-PE" dirty="0"/>
              <a:t> con un </a:t>
            </a:r>
            <a:r>
              <a:rPr lang="es-PE" dirty="0" err="1"/>
              <a:t>Request</a:t>
            </a:r>
            <a:endParaRPr lang="es-PE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6008202-5890-1628-659B-02B14177DCBD}"/>
              </a:ext>
            </a:extLst>
          </p:cNvPr>
          <p:cNvSpPr txBox="1"/>
          <p:nvPr/>
        </p:nvSpPr>
        <p:spPr>
          <a:xfrm>
            <a:off x="6094344" y="3192605"/>
            <a:ext cx="60976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dirty="0"/>
              <a:t>1 </a:t>
            </a:r>
            <a:r>
              <a:rPr lang="es-PE" dirty="0" err="1"/>
              <a:t>Scenario</a:t>
            </a:r>
            <a:r>
              <a:rPr lang="es-PE" dirty="0"/>
              <a:t> con varios </a:t>
            </a:r>
            <a:r>
              <a:rPr lang="es-PE" dirty="0" err="1"/>
              <a:t>Request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223875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6E3031-917A-C551-026E-23328DF8C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Ejemplo Básico 2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563D34-890B-362F-47CC-AFEA16469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0125" y="1725234"/>
            <a:ext cx="6448425" cy="4647426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PE" altLang="es-PE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Feature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 Mascotas</a:t>
            </a:r>
            <a:b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</a:t>
            </a:r>
            <a:r>
              <a:rPr kumimoji="0" lang="es-PE" altLang="es-PE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Background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</a:t>
            </a:r>
            <a:b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  </a:t>
            </a:r>
            <a:r>
              <a:rPr kumimoji="0" lang="es-PE" altLang="es-PE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Given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es-PE" altLang="es-PE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url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'http://petstore.swagger.io/v2/'</a:t>
            </a:r>
            <a:b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</a:br>
            <a:b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</a:br>
            <a:r>
              <a:rPr kumimoji="0" lang="es-PE" altLang="es-PE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Scenario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 Consultas de Mascota Existente</a:t>
            </a:r>
            <a:b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</a:t>
            </a:r>
            <a:r>
              <a:rPr kumimoji="0" lang="es-PE" altLang="es-PE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Given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es-PE" altLang="es-PE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path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'</a:t>
            </a:r>
            <a:r>
              <a:rPr kumimoji="0" lang="es-PE" altLang="es-PE" b="1" i="0" u="none" strike="noStrike" cap="none" normalizeH="0" baseline="0" dirty="0" err="1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pet</a:t>
            </a:r>
            <a: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/5'</a:t>
            </a:r>
            <a:b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</a:br>
            <a: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  </a:t>
            </a:r>
            <a:r>
              <a:rPr kumimoji="0" lang="es-PE" altLang="es-PE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When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es-PE" altLang="es-PE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method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kumimoji="0" lang="es-PE" altLang="es-PE" b="1" i="0" u="none" strike="noStrike" cap="none" normalizeH="0" baseline="0" dirty="0" err="1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get</a:t>
            </a:r>
            <a:b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</a:br>
            <a: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  </a:t>
            </a:r>
            <a:r>
              <a:rPr kumimoji="0" lang="es-PE" altLang="es-PE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Then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status </a:t>
            </a:r>
            <a: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200</a:t>
            </a:r>
            <a:b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</a:br>
            <a:b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</a:br>
            <a:b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</a:br>
            <a:r>
              <a:rPr kumimoji="0" lang="es-PE" altLang="es-PE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Scenario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: Consulta de Mascota Inexistente</a:t>
            </a:r>
            <a:b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</a:b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 </a:t>
            </a:r>
            <a:r>
              <a:rPr kumimoji="0" lang="es-PE" altLang="es-PE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Given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es-PE" altLang="es-PE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path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'</a:t>
            </a:r>
            <a:r>
              <a:rPr kumimoji="0" lang="es-PE" altLang="es-PE" b="1" i="0" u="none" strike="noStrike" cap="none" normalizeH="0" baseline="0" dirty="0" err="1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pet</a:t>
            </a:r>
            <a: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/4'</a:t>
            </a:r>
            <a:b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</a:br>
            <a: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  </a:t>
            </a:r>
            <a:r>
              <a:rPr kumimoji="0" lang="es-PE" altLang="es-PE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When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es-PE" altLang="es-PE" b="0" i="0" u="none" strike="noStrike" cap="none" normalizeH="0" baseline="0" dirty="0" err="1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method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 </a:t>
            </a:r>
            <a:r>
              <a:rPr kumimoji="0" lang="es-PE" altLang="es-PE" b="1" i="0" u="none" strike="noStrike" cap="none" normalizeH="0" baseline="0" dirty="0" err="1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get</a:t>
            </a:r>
            <a:b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</a:br>
            <a: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  </a:t>
            </a:r>
            <a:r>
              <a:rPr kumimoji="0" lang="es-PE" altLang="es-PE" b="0" i="0" u="none" strike="noStrike" cap="none" normalizeH="0" baseline="0" dirty="0" err="1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Then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CC7832"/>
                </a:solidFill>
                <a:effectLst/>
                <a:latin typeface="JetBrains Mono"/>
              </a:rPr>
              <a:t> </a:t>
            </a:r>
            <a:r>
              <a:rPr kumimoji="0" lang="es-PE" altLang="es-PE" b="0" i="0" u="none" strike="noStrike" cap="none" normalizeH="0" baseline="0" dirty="0">
                <a:ln>
                  <a:noFill/>
                </a:ln>
                <a:solidFill>
                  <a:srgbClr val="A9B7C6"/>
                </a:solidFill>
                <a:effectLst/>
                <a:latin typeface="JetBrains Mono"/>
              </a:rPr>
              <a:t>status </a:t>
            </a:r>
            <a: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  <a:t>404</a:t>
            </a:r>
            <a:br>
              <a:rPr kumimoji="0" lang="es-PE" altLang="es-PE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</a:br>
            <a:endParaRPr kumimoji="0" lang="es-PE" altLang="es-PE" sz="4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1F99A69-89A9-6379-4ECB-F7DF4B7C55ED}"/>
              </a:ext>
            </a:extLst>
          </p:cNvPr>
          <p:cNvSpPr txBox="1"/>
          <p:nvPr/>
        </p:nvSpPr>
        <p:spPr>
          <a:xfrm>
            <a:off x="7858125" y="2200275"/>
            <a:ext cx="31527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Al ejecutar un </a:t>
            </a:r>
            <a:r>
              <a:rPr lang="es-PE" dirty="0" err="1"/>
              <a:t>Scenario</a:t>
            </a:r>
            <a:r>
              <a:rPr lang="es-PE" dirty="0"/>
              <a:t>, de forma automática se ejecutará primero el </a:t>
            </a:r>
            <a:r>
              <a:rPr lang="es-PE" dirty="0" err="1"/>
              <a:t>Background</a:t>
            </a:r>
            <a:r>
              <a:rPr lang="es-PE" dirty="0"/>
              <a:t>.</a:t>
            </a:r>
          </a:p>
          <a:p>
            <a:endParaRPr lang="es-PE" dirty="0"/>
          </a:p>
          <a:p>
            <a:r>
              <a:rPr lang="es-PE" dirty="0"/>
              <a:t>Siempre se ejecuta automáticamente el </a:t>
            </a:r>
            <a:r>
              <a:rPr lang="es-PE" dirty="0" err="1"/>
              <a:t>background</a:t>
            </a:r>
            <a:r>
              <a:rPr lang="es-PE" dirty="0"/>
              <a:t> y luego el </a:t>
            </a:r>
            <a:r>
              <a:rPr lang="es-PE" dirty="0" err="1"/>
              <a:t>Scenario</a:t>
            </a:r>
            <a:r>
              <a:rPr lang="es-PE" dirty="0"/>
              <a:t>.</a:t>
            </a:r>
          </a:p>
          <a:p>
            <a:endParaRPr lang="es-PE" dirty="0"/>
          </a:p>
          <a:p>
            <a:r>
              <a:rPr lang="es-PE" dirty="0"/>
              <a:t>Prueba ejecutando sólo 1 escenario y observa el reporte.</a:t>
            </a:r>
          </a:p>
        </p:txBody>
      </p:sp>
    </p:spTree>
    <p:extLst>
      <p:ext uri="{BB962C8B-B14F-4D97-AF65-F5344CB8AC3E}">
        <p14:creationId xmlns:p14="http://schemas.microsoft.com/office/powerpoint/2010/main" val="2772169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6DF188-104D-FA69-B5D8-AD11E62C1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Ejemplo Básico con Autentificación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256EE1B-69A3-AC69-5369-9D2D225544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427" y="1195442"/>
            <a:ext cx="6684116" cy="4832092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None/>
            </a:pPr>
            <a:r>
              <a:rPr lang="es-PE" sz="1400" dirty="0" err="1">
                <a:solidFill>
                  <a:srgbClr val="CF8E6D"/>
                </a:solidFill>
                <a:effectLst/>
                <a:latin typeface="JetBrains Mono"/>
              </a:rPr>
              <a:t>Feature</a:t>
            </a: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: Autenticación</a:t>
            </a:r>
            <a:b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es-PE" sz="1400" dirty="0" err="1">
                <a:solidFill>
                  <a:srgbClr val="CF8E6D"/>
                </a:solidFill>
                <a:effectLst/>
                <a:latin typeface="JetBrains Mono"/>
              </a:rPr>
              <a:t>Scenario</a:t>
            </a: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: Configuración inicial y autenticación</a:t>
            </a:r>
            <a:br>
              <a:rPr lang="es-PE" sz="1400" i="1" dirty="0">
                <a:solidFill>
                  <a:srgbClr val="5F826B"/>
                </a:solidFill>
                <a:effectLst/>
                <a:latin typeface="JetBrains Mono"/>
              </a:rPr>
            </a:br>
            <a:r>
              <a:rPr lang="es-PE" sz="1400" i="1" dirty="0">
                <a:solidFill>
                  <a:srgbClr val="5F826B"/>
                </a:solidFill>
                <a:effectLst/>
                <a:latin typeface="JetBrains Mono"/>
              </a:rPr>
              <a:t>    </a:t>
            </a:r>
            <a:r>
              <a:rPr lang="es-PE" sz="1400" dirty="0" err="1">
                <a:solidFill>
                  <a:srgbClr val="CF8E6D"/>
                </a:solidFill>
                <a:effectLst/>
                <a:latin typeface="JetBrains Mono"/>
              </a:rPr>
              <a:t>Given</a:t>
            </a:r>
            <a:r>
              <a:rPr lang="es-PE" sz="14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es-PE" sz="1400" dirty="0" err="1">
                <a:solidFill>
                  <a:srgbClr val="BCBEC4"/>
                </a:solidFill>
                <a:effectLst/>
                <a:latin typeface="JetBrains Mono"/>
              </a:rPr>
              <a:t>url</a:t>
            </a: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'https://dummyjson.com'</a:t>
            </a:r>
            <a:b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</a:b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    </a:t>
            </a:r>
            <a:r>
              <a:rPr lang="es-PE" sz="1400" dirty="0">
                <a:solidFill>
                  <a:srgbClr val="CF8E6D"/>
                </a:solidFill>
                <a:effectLst/>
                <a:latin typeface="JetBrains Mono"/>
              </a:rPr>
              <a:t>And </a:t>
            </a:r>
            <a:r>
              <a:rPr lang="es-PE" sz="1400" dirty="0" err="1">
                <a:solidFill>
                  <a:srgbClr val="BCBEC4"/>
                </a:solidFill>
                <a:effectLst/>
                <a:latin typeface="JetBrains Mono"/>
              </a:rPr>
              <a:t>path</a:t>
            </a: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'/</a:t>
            </a:r>
            <a:r>
              <a:rPr lang="es-PE" sz="1400" dirty="0" err="1">
                <a:solidFill>
                  <a:srgbClr val="5C92FF"/>
                </a:solidFill>
                <a:effectLst/>
                <a:latin typeface="JetBrains Mono"/>
              </a:rPr>
              <a:t>auth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/</a:t>
            </a:r>
            <a:r>
              <a:rPr lang="es-PE" sz="1400" dirty="0" err="1">
                <a:solidFill>
                  <a:srgbClr val="5C92FF"/>
                </a:solidFill>
                <a:effectLst/>
                <a:latin typeface="JetBrains Mono"/>
              </a:rPr>
              <a:t>login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'</a:t>
            </a:r>
            <a:b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</a:b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    </a:t>
            </a:r>
            <a:r>
              <a:rPr lang="es-PE" sz="1400" dirty="0">
                <a:solidFill>
                  <a:srgbClr val="CF8E6D"/>
                </a:solidFill>
                <a:latin typeface="JetBrains Mono"/>
              </a:rPr>
              <a:t>And</a:t>
            </a:r>
            <a:r>
              <a:rPr lang="es-PE" sz="14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es-PE" sz="1400" dirty="0" err="1">
                <a:solidFill>
                  <a:srgbClr val="BCBEC4"/>
                </a:solidFill>
                <a:effectLst/>
                <a:latin typeface="JetBrains Mono"/>
              </a:rPr>
              <a:t>request</a:t>
            </a: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s-PE" sz="1400" dirty="0" err="1">
                <a:solidFill>
                  <a:srgbClr val="5C92FF"/>
                </a:solidFill>
                <a:effectLst/>
                <a:latin typeface="JetBrains Mono"/>
              </a:rPr>
              <a:t>read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('</a:t>
            </a:r>
            <a:r>
              <a:rPr lang="es-PE" sz="1400" dirty="0" err="1">
                <a:solidFill>
                  <a:srgbClr val="5C92FF"/>
                </a:solidFill>
                <a:effectLst/>
                <a:latin typeface="JetBrains Mono"/>
              </a:rPr>
              <a:t>classpath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:/</a:t>
            </a:r>
            <a:r>
              <a:rPr lang="es-PE" sz="1400" dirty="0" err="1">
                <a:solidFill>
                  <a:srgbClr val="5C92FF"/>
                </a:solidFill>
                <a:effectLst/>
                <a:latin typeface="JetBrains Mono"/>
              </a:rPr>
              <a:t>authRequest.json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')</a:t>
            </a:r>
            <a:b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</a:b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    </a:t>
            </a:r>
            <a:r>
              <a:rPr lang="es-PE" sz="1400" dirty="0" err="1">
                <a:solidFill>
                  <a:srgbClr val="CF8E6D"/>
                </a:solidFill>
                <a:effectLst/>
                <a:latin typeface="JetBrains Mono"/>
              </a:rPr>
              <a:t>When</a:t>
            </a:r>
            <a:r>
              <a:rPr lang="es-PE" sz="14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es-PE" sz="1400" dirty="0" err="1">
                <a:solidFill>
                  <a:srgbClr val="BCBEC4"/>
                </a:solidFill>
                <a:effectLst/>
                <a:latin typeface="JetBrains Mono"/>
              </a:rPr>
              <a:t>method</a:t>
            </a: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post</a:t>
            </a:r>
            <a:b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</a:b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    </a:t>
            </a:r>
            <a:r>
              <a:rPr lang="es-PE" sz="1400" dirty="0" err="1">
                <a:solidFill>
                  <a:srgbClr val="CF8E6D"/>
                </a:solidFill>
                <a:effectLst/>
                <a:latin typeface="JetBrains Mono"/>
              </a:rPr>
              <a:t>Then</a:t>
            </a:r>
            <a:r>
              <a:rPr lang="es-PE" sz="14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status 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200</a:t>
            </a:r>
            <a:br>
              <a:rPr lang="es-PE" sz="1400" i="1" dirty="0">
                <a:solidFill>
                  <a:srgbClr val="5F826B"/>
                </a:solidFill>
                <a:effectLst/>
                <a:latin typeface="JetBrains Mono"/>
              </a:rPr>
            </a:br>
            <a:r>
              <a:rPr lang="es-PE" sz="1400" i="1" dirty="0">
                <a:solidFill>
                  <a:srgbClr val="5F826B"/>
                </a:solidFill>
                <a:effectLst/>
                <a:latin typeface="JetBrains Mono"/>
              </a:rPr>
              <a:t>    </a:t>
            </a:r>
            <a:r>
              <a:rPr lang="es-PE" sz="1400" dirty="0">
                <a:solidFill>
                  <a:srgbClr val="CF8E6D"/>
                </a:solidFill>
                <a:effectLst/>
                <a:latin typeface="JetBrains Mono"/>
              </a:rPr>
              <a:t>And </a:t>
            </a:r>
            <a:r>
              <a:rPr lang="es-PE" sz="1400" dirty="0" err="1">
                <a:solidFill>
                  <a:srgbClr val="BCBEC4"/>
                </a:solidFill>
                <a:effectLst/>
                <a:latin typeface="JetBrains Mono"/>
              </a:rPr>
              <a:t>print</a:t>
            </a: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'response:', response</a:t>
            </a:r>
            <a:br>
              <a:rPr lang="es-PE" sz="1400" i="1" dirty="0">
                <a:solidFill>
                  <a:srgbClr val="5F826B"/>
                </a:solidFill>
                <a:effectLst/>
                <a:latin typeface="JetBrains Mono"/>
              </a:rPr>
            </a:br>
            <a:r>
              <a:rPr lang="es-PE" sz="1400" i="1" dirty="0">
                <a:solidFill>
                  <a:srgbClr val="5F826B"/>
                </a:solidFill>
                <a:effectLst/>
                <a:latin typeface="JetBrains Mono"/>
              </a:rPr>
              <a:t>    </a:t>
            </a:r>
            <a:r>
              <a:rPr lang="es-PE" sz="1400" dirty="0">
                <a:solidFill>
                  <a:srgbClr val="CF8E6D"/>
                </a:solidFill>
                <a:effectLst/>
                <a:latin typeface="JetBrains Mono"/>
              </a:rPr>
              <a:t>And </a:t>
            </a:r>
            <a:r>
              <a:rPr lang="es-PE" sz="1400" dirty="0" err="1">
                <a:solidFill>
                  <a:srgbClr val="BCBEC4"/>
                </a:solidFill>
                <a:effectLst/>
                <a:latin typeface="JetBrains Mono"/>
              </a:rPr>
              <a:t>def</a:t>
            </a: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token</a:t>
            </a: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s-PE" sz="1400" dirty="0" err="1">
                <a:solidFill>
                  <a:srgbClr val="5C92FF"/>
                </a:solidFill>
                <a:effectLst/>
                <a:latin typeface="JetBrains Mono"/>
              </a:rPr>
              <a:t>response.accessToken.toString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()</a:t>
            </a:r>
            <a:b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</a:b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    </a:t>
            </a:r>
            <a:r>
              <a:rPr lang="es-PE" sz="1400" dirty="0">
                <a:solidFill>
                  <a:srgbClr val="CF8E6D"/>
                </a:solidFill>
                <a:effectLst/>
                <a:latin typeface="JetBrains Mono"/>
              </a:rPr>
              <a:t>And </a:t>
            </a:r>
            <a:r>
              <a:rPr lang="es-PE" sz="1400" dirty="0" err="1">
                <a:solidFill>
                  <a:srgbClr val="BCBEC4"/>
                </a:solidFill>
                <a:effectLst/>
                <a:latin typeface="JetBrains Mono"/>
              </a:rPr>
              <a:t>print</a:t>
            </a: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'token:', token</a:t>
            </a:r>
            <a:br>
              <a:rPr kumimoji="0" lang="es-PE" altLang="es-PE" sz="14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</a:br>
            <a:br>
              <a:rPr kumimoji="0" lang="es-PE" altLang="es-PE" sz="1400" b="1" i="0" u="none" strike="noStrike" cap="none" normalizeH="0" baseline="0" dirty="0">
                <a:ln>
                  <a:noFill/>
                </a:ln>
                <a:solidFill>
                  <a:srgbClr val="297BDE"/>
                </a:solidFill>
                <a:effectLst/>
                <a:latin typeface="JetBrains Mono"/>
              </a:rPr>
            </a:br>
            <a:r>
              <a:rPr lang="es-PE" sz="1400" dirty="0" err="1">
                <a:solidFill>
                  <a:srgbClr val="CF8E6D"/>
                </a:solidFill>
                <a:effectLst/>
                <a:latin typeface="JetBrains Mono"/>
              </a:rPr>
              <a:t>Feature</a:t>
            </a: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: Autenticación y consulta de usuarios</a:t>
            </a:r>
            <a:b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  </a:t>
            </a:r>
            <a:r>
              <a:rPr lang="es-PE" sz="1400" dirty="0" err="1">
                <a:solidFill>
                  <a:srgbClr val="CF8E6D"/>
                </a:solidFill>
                <a:effectLst/>
                <a:latin typeface="JetBrains Mono"/>
              </a:rPr>
              <a:t>Background</a:t>
            </a: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: Configuración inicial y autenticación</a:t>
            </a:r>
            <a:b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</a:b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    </a:t>
            </a:r>
            <a:r>
              <a:rPr lang="es-PE" sz="1400" dirty="0">
                <a:solidFill>
                  <a:srgbClr val="CF8E6D"/>
                </a:solidFill>
                <a:effectLst/>
                <a:latin typeface="JetBrains Mono"/>
              </a:rPr>
              <a:t>* </a:t>
            </a:r>
            <a:r>
              <a:rPr lang="es-PE" sz="1400" dirty="0" err="1">
                <a:solidFill>
                  <a:srgbClr val="BCBEC4"/>
                </a:solidFill>
                <a:effectLst/>
                <a:latin typeface="JetBrains Mono"/>
              </a:rPr>
              <a:t>def</a:t>
            </a: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token</a:t>
            </a: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s-PE" sz="1400" dirty="0" err="1">
                <a:solidFill>
                  <a:srgbClr val="5C92FF"/>
                </a:solidFill>
                <a:effectLst/>
                <a:latin typeface="JetBrains Mono"/>
              </a:rPr>
              <a:t>call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 </a:t>
            </a:r>
            <a:r>
              <a:rPr lang="es-PE" sz="1400" dirty="0" err="1">
                <a:solidFill>
                  <a:srgbClr val="5C92FF"/>
                </a:solidFill>
                <a:effectLst/>
                <a:latin typeface="JetBrains Mono"/>
              </a:rPr>
              <a:t>read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('</a:t>
            </a:r>
            <a:r>
              <a:rPr lang="es-PE" sz="1400" dirty="0" err="1">
                <a:solidFill>
                  <a:srgbClr val="5C92FF"/>
                </a:solidFill>
                <a:effectLst/>
                <a:latin typeface="JetBrains Mono"/>
              </a:rPr>
              <a:t>classpath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:/</a:t>
            </a:r>
            <a:r>
              <a:rPr lang="es-PE" sz="1400" dirty="0" err="1">
                <a:solidFill>
                  <a:srgbClr val="5C92FF"/>
                </a:solidFill>
                <a:effectLst/>
                <a:latin typeface="JetBrains Mono"/>
              </a:rPr>
              <a:t>token.feature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')</a:t>
            </a:r>
            <a:b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</a:b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    </a:t>
            </a:r>
            <a:r>
              <a:rPr lang="es-PE" sz="1400" dirty="0">
                <a:solidFill>
                  <a:srgbClr val="CF8E6D"/>
                </a:solidFill>
                <a:effectLst/>
                <a:latin typeface="JetBrains Mono"/>
              </a:rPr>
              <a:t>* </a:t>
            </a:r>
            <a:r>
              <a:rPr lang="es-PE" sz="1400" dirty="0" err="1">
                <a:solidFill>
                  <a:srgbClr val="BCBEC4"/>
                </a:solidFill>
                <a:effectLst/>
                <a:latin typeface="JetBrains Mono"/>
              </a:rPr>
              <a:t>print</a:t>
            </a: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'Token obtenido:', </a:t>
            </a:r>
            <a:r>
              <a:rPr lang="es-PE" sz="1400" dirty="0" err="1">
                <a:solidFill>
                  <a:srgbClr val="5C92FF"/>
                </a:solidFill>
                <a:effectLst/>
                <a:latin typeface="JetBrains Mono"/>
              </a:rPr>
              <a:t>token.response.accessToken</a:t>
            </a:r>
            <a:b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</a:b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    </a:t>
            </a:r>
            <a:r>
              <a:rPr lang="es-PE" sz="1400" dirty="0" err="1">
                <a:solidFill>
                  <a:srgbClr val="CF8E6D"/>
                </a:solidFill>
                <a:effectLst/>
                <a:latin typeface="JetBrains Mono"/>
              </a:rPr>
              <a:t>Scenario</a:t>
            </a: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: Consulta de usuarios autenticados</a:t>
            </a:r>
            <a:br>
              <a:rPr lang="es-PE" sz="1400" i="1" dirty="0">
                <a:solidFill>
                  <a:srgbClr val="5F826B"/>
                </a:solidFill>
                <a:effectLst/>
                <a:latin typeface="JetBrains Mono"/>
              </a:rPr>
            </a:br>
            <a:r>
              <a:rPr lang="es-PE" sz="1400" i="1" dirty="0">
                <a:solidFill>
                  <a:srgbClr val="5F826B"/>
                </a:solidFill>
                <a:effectLst/>
                <a:latin typeface="JetBrains Mono"/>
              </a:rPr>
              <a:t>      </a:t>
            </a:r>
            <a:r>
              <a:rPr lang="es-PE" sz="1400" dirty="0" err="1">
                <a:solidFill>
                  <a:srgbClr val="CF8E6D"/>
                </a:solidFill>
                <a:effectLst/>
                <a:latin typeface="JetBrains Mono"/>
              </a:rPr>
              <a:t>Given</a:t>
            </a:r>
            <a:r>
              <a:rPr lang="es-PE" sz="14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es-PE" sz="1400" dirty="0" err="1">
                <a:solidFill>
                  <a:srgbClr val="BCBEC4"/>
                </a:solidFill>
                <a:effectLst/>
                <a:latin typeface="JetBrains Mono"/>
              </a:rPr>
              <a:t>url</a:t>
            </a: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'https://dummyjson.com'</a:t>
            </a:r>
            <a:b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</a:b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      </a:t>
            </a:r>
            <a:r>
              <a:rPr lang="es-PE" sz="1400" dirty="0">
                <a:solidFill>
                  <a:srgbClr val="CF8E6D"/>
                </a:solidFill>
                <a:effectLst/>
                <a:latin typeface="JetBrains Mono"/>
              </a:rPr>
              <a:t>And </a:t>
            </a:r>
            <a:r>
              <a:rPr lang="es-PE" sz="1400" dirty="0" err="1">
                <a:solidFill>
                  <a:srgbClr val="BCBEC4"/>
                </a:solidFill>
                <a:effectLst/>
                <a:latin typeface="JetBrains Mono"/>
              </a:rPr>
              <a:t>path</a:t>
            </a: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'/</a:t>
            </a:r>
            <a:r>
              <a:rPr lang="es-PE" sz="1400" dirty="0" err="1">
                <a:solidFill>
                  <a:srgbClr val="5C92FF"/>
                </a:solidFill>
                <a:effectLst/>
                <a:latin typeface="JetBrains Mono"/>
              </a:rPr>
              <a:t>auth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/me'</a:t>
            </a:r>
            <a:b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</a:b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      </a:t>
            </a:r>
            <a:r>
              <a:rPr lang="es-PE" sz="1400" dirty="0">
                <a:solidFill>
                  <a:srgbClr val="CF8E6D"/>
                </a:solidFill>
                <a:effectLst/>
                <a:latin typeface="JetBrains Mono"/>
              </a:rPr>
              <a:t>And </a:t>
            </a:r>
            <a:r>
              <a:rPr lang="es-PE" sz="1400" dirty="0" err="1">
                <a:solidFill>
                  <a:srgbClr val="BCBEC4"/>
                </a:solidFill>
                <a:effectLst/>
                <a:latin typeface="JetBrains Mono"/>
              </a:rPr>
              <a:t>header</a:t>
            </a: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s-PE" sz="1400" dirty="0" err="1">
                <a:solidFill>
                  <a:srgbClr val="5C92FF"/>
                </a:solidFill>
                <a:effectLst/>
                <a:latin typeface="JetBrains Mono"/>
              </a:rPr>
              <a:t>Authorization</a:t>
            </a: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 = 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'</a:t>
            </a:r>
            <a:r>
              <a:rPr lang="es-PE" sz="1400" dirty="0" err="1">
                <a:solidFill>
                  <a:srgbClr val="5C92FF"/>
                </a:solidFill>
                <a:effectLst/>
                <a:latin typeface="JetBrains Mono"/>
              </a:rPr>
              <a:t>Bearer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 ' + </a:t>
            </a:r>
            <a:r>
              <a:rPr lang="es-PE" sz="1400" dirty="0" err="1">
                <a:solidFill>
                  <a:srgbClr val="5C92FF"/>
                </a:solidFill>
                <a:effectLst/>
                <a:latin typeface="JetBrains Mono"/>
              </a:rPr>
              <a:t>token.response.accessToken</a:t>
            </a:r>
            <a:b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</a:b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      </a:t>
            </a:r>
            <a:r>
              <a:rPr lang="es-PE" sz="1400" dirty="0" err="1">
                <a:solidFill>
                  <a:srgbClr val="CF8E6D"/>
                </a:solidFill>
                <a:effectLst/>
                <a:latin typeface="JetBrains Mono"/>
              </a:rPr>
              <a:t>When</a:t>
            </a:r>
            <a:r>
              <a:rPr lang="es-PE" sz="14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es-PE" sz="1400" dirty="0" err="1">
                <a:solidFill>
                  <a:srgbClr val="BCBEC4"/>
                </a:solidFill>
                <a:effectLst/>
                <a:latin typeface="JetBrains Mono"/>
              </a:rPr>
              <a:t>method</a:t>
            </a: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 </a:t>
            </a:r>
            <a:r>
              <a:rPr lang="es-PE" sz="1400" dirty="0" err="1">
                <a:solidFill>
                  <a:srgbClr val="5C92FF"/>
                </a:solidFill>
                <a:effectLst/>
                <a:latin typeface="JetBrains Mono"/>
              </a:rPr>
              <a:t>get</a:t>
            </a:r>
            <a:b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</a:b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      </a:t>
            </a:r>
            <a:r>
              <a:rPr lang="es-PE" sz="1400" dirty="0" err="1">
                <a:solidFill>
                  <a:srgbClr val="CF8E6D"/>
                </a:solidFill>
                <a:effectLst/>
                <a:latin typeface="JetBrains Mono"/>
              </a:rPr>
              <a:t>Then</a:t>
            </a:r>
            <a:r>
              <a:rPr lang="es-PE" sz="1400" dirty="0">
                <a:solidFill>
                  <a:srgbClr val="CF8E6D"/>
                </a:solidFill>
                <a:effectLst/>
                <a:latin typeface="JetBrains Mono"/>
              </a:rPr>
              <a:t> </a:t>
            </a: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status 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200</a:t>
            </a:r>
            <a:br>
              <a:rPr lang="es-PE" sz="1400" i="1" dirty="0">
                <a:solidFill>
                  <a:srgbClr val="5F826B"/>
                </a:solidFill>
                <a:effectLst/>
                <a:latin typeface="JetBrains Mono"/>
              </a:rPr>
            </a:br>
            <a:r>
              <a:rPr lang="es-PE" sz="1400" i="1" dirty="0">
                <a:solidFill>
                  <a:srgbClr val="5F826B"/>
                </a:solidFill>
                <a:effectLst/>
                <a:latin typeface="JetBrains Mono"/>
              </a:rPr>
              <a:t>      </a:t>
            </a:r>
            <a:r>
              <a:rPr lang="es-PE" sz="1400" dirty="0">
                <a:solidFill>
                  <a:srgbClr val="CF8E6D"/>
                </a:solidFill>
                <a:effectLst/>
                <a:latin typeface="JetBrains Mono"/>
              </a:rPr>
              <a:t>And </a:t>
            </a:r>
            <a:r>
              <a:rPr lang="es-PE" sz="1400" dirty="0">
                <a:solidFill>
                  <a:srgbClr val="BCBEC4"/>
                </a:solidFill>
                <a:effectLst/>
                <a:latin typeface="JetBrains Mono"/>
              </a:rPr>
              <a:t>match </a:t>
            </a:r>
            <a:r>
              <a:rPr lang="es-PE" sz="1400" dirty="0" err="1">
                <a:solidFill>
                  <a:srgbClr val="5C92FF"/>
                </a:solidFill>
                <a:effectLst/>
                <a:latin typeface="JetBrains Mono"/>
              </a:rPr>
              <a:t>response.username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 == '</a:t>
            </a:r>
            <a:r>
              <a:rPr lang="es-PE" sz="1400" dirty="0" err="1">
                <a:solidFill>
                  <a:srgbClr val="5C92FF"/>
                </a:solidFill>
                <a:effectLst/>
                <a:latin typeface="JetBrains Mono"/>
              </a:rPr>
              <a:t>sophiab</a:t>
            </a:r>
            <a:r>
              <a:rPr lang="es-PE" sz="1400" dirty="0">
                <a:solidFill>
                  <a:srgbClr val="5C92FF"/>
                </a:solidFill>
                <a:effectLst/>
                <a:latin typeface="JetBrains Mono"/>
              </a:rPr>
              <a:t>'</a:t>
            </a:r>
            <a:endParaRPr lang="es-PE" sz="1400" dirty="0">
              <a:solidFill>
                <a:srgbClr val="BCBEC4"/>
              </a:solidFill>
              <a:effectLst/>
              <a:latin typeface="JetBrains Mono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4FA4358-2974-4466-1EFC-BED35E6B5C8B}"/>
              </a:ext>
            </a:extLst>
          </p:cNvPr>
          <p:cNvSpPr txBox="1"/>
          <p:nvPr/>
        </p:nvSpPr>
        <p:spPr>
          <a:xfrm>
            <a:off x="7065115" y="1087720"/>
            <a:ext cx="467921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dirty="0"/>
              <a:t>Observa:</a:t>
            </a:r>
          </a:p>
          <a:p>
            <a:pPr marL="285750" indent="-285750">
              <a:buFontTx/>
              <a:buChar char="-"/>
            </a:pPr>
            <a:r>
              <a:rPr lang="es-PE" dirty="0"/>
              <a:t>El </a:t>
            </a:r>
            <a:r>
              <a:rPr lang="es-PE" dirty="0" err="1"/>
              <a:t>background</a:t>
            </a:r>
            <a:r>
              <a:rPr lang="es-PE" dirty="0"/>
              <a:t> se ejecuta automáticamente</a:t>
            </a:r>
          </a:p>
          <a:p>
            <a:pPr marL="285750" indent="-285750">
              <a:buFontTx/>
              <a:buChar char="-"/>
            </a:pPr>
            <a:r>
              <a:rPr lang="es-PE" dirty="0"/>
              <a:t>En el código donde se usa GIVEN, WHEN y THEN</a:t>
            </a:r>
          </a:p>
          <a:p>
            <a:pPr marL="285750" indent="-285750">
              <a:buFontTx/>
              <a:buChar char="-"/>
            </a:pPr>
            <a:r>
              <a:rPr lang="es-PE" dirty="0"/>
              <a:t>Que siempre hay espacios en blanco antes y después de =</a:t>
            </a:r>
          </a:p>
          <a:p>
            <a:pPr marL="285750" indent="-285750">
              <a:buFontTx/>
              <a:buChar char="-"/>
            </a:pPr>
            <a:r>
              <a:rPr lang="es-PE" dirty="0"/>
              <a:t>Cada palabra es como una orden</a:t>
            </a:r>
          </a:p>
          <a:p>
            <a:pPr marL="285750" indent="-285750">
              <a:buFontTx/>
              <a:buChar char="-"/>
            </a:pPr>
            <a:endParaRPr lang="es-PE" dirty="0"/>
          </a:p>
        </p:txBody>
      </p:sp>
      <p:pic>
        <p:nvPicPr>
          <p:cNvPr id="5" name="Imagen 4" descr="Interfaz de usuario gráfica, Texto, Aplicación, Correo electrónico&#10;&#10;El contenido generado por IA puede ser incorrecto.">
            <a:extLst>
              <a:ext uri="{FF2B5EF4-FFF2-40B4-BE49-F238E27FC236}">
                <a16:creationId xmlns:a16="http://schemas.microsoft.com/office/drawing/2014/main" id="{674926EB-BBBC-E527-58DD-FD333A4E70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45" r="43377"/>
          <a:stretch>
            <a:fillRect/>
          </a:stretch>
        </p:blipFill>
        <p:spPr>
          <a:xfrm>
            <a:off x="7032941" y="3131128"/>
            <a:ext cx="4586217" cy="317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894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436194-6E00-F074-FE83-E1134807F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Documentación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BA4C01-C50C-E83F-A0A4-160FA48B7D3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80999" y="1750320"/>
            <a:ext cx="11539538" cy="670357"/>
          </a:xfrm>
        </p:spPr>
        <p:txBody>
          <a:bodyPr>
            <a:normAutofit/>
          </a:bodyPr>
          <a:lstStyle/>
          <a:p>
            <a:r>
              <a:rPr lang="es-PE" sz="2800" dirty="0" err="1">
                <a:hlinkClick r:id="rId2"/>
              </a:rPr>
              <a:t>Why</a:t>
            </a:r>
            <a:r>
              <a:rPr lang="es-PE" sz="2800" dirty="0">
                <a:hlinkClick r:id="rId2"/>
              </a:rPr>
              <a:t> Karate? | Karate</a:t>
            </a:r>
            <a:endParaRPr lang="es-PE" sz="2800" dirty="0"/>
          </a:p>
        </p:txBody>
      </p:sp>
      <p:sp>
        <p:nvSpPr>
          <p:cNvPr id="4" name="Marcador de texto 2">
            <a:extLst>
              <a:ext uri="{FF2B5EF4-FFF2-40B4-BE49-F238E27FC236}">
                <a16:creationId xmlns:a16="http://schemas.microsoft.com/office/drawing/2014/main" id="{77EAA57F-4ED1-720F-A0A4-CCB2F86732EF}"/>
              </a:ext>
            </a:extLst>
          </p:cNvPr>
          <p:cNvSpPr txBox="1">
            <a:spLocks/>
          </p:cNvSpPr>
          <p:nvPr/>
        </p:nvSpPr>
        <p:spPr>
          <a:xfrm>
            <a:off x="380999" y="1415142"/>
            <a:ext cx="11539538" cy="6703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lang="es-ES" altLang="es-ES" sz="1800" kern="1200" dirty="0" smtClean="0">
                <a:solidFill>
                  <a:srgbClr val="505050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altLang="es-ES" sz="1600" kern="1200" dirty="0" smtClean="0">
                <a:solidFill>
                  <a:srgbClr val="50505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altLang="es-ES" sz="1600" kern="1200" dirty="0" smtClean="0">
                <a:solidFill>
                  <a:srgbClr val="50505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altLang="es-ES" sz="1600" kern="1200" dirty="0" smtClean="0">
                <a:solidFill>
                  <a:srgbClr val="50505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altLang="es-ES" sz="1600" kern="1200" dirty="0" smtClean="0">
                <a:solidFill>
                  <a:srgbClr val="50505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/>
              <a:t>En este link se tiene muchos códigos de ejemplos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4A51CBA-3760-13CB-5CDA-85F784C5DFF3}"/>
              </a:ext>
            </a:extLst>
          </p:cNvPr>
          <p:cNvSpPr txBox="1"/>
          <p:nvPr/>
        </p:nvSpPr>
        <p:spPr>
          <a:xfrm>
            <a:off x="6610350" y="2491229"/>
            <a:ext cx="52006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600" dirty="0">
                <a:hlinkClick r:id="rId3"/>
              </a:rPr>
              <a:t>karate/karate-demo at master · karatelabs/karate · GitHub</a:t>
            </a:r>
            <a:endParaRPr lang="es-PE" sz="16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4500DD90-EE42-95CE-ED94-49F909958C42}"/>
              </a:ext>
            </a:extLst>
          </p:cNvPr>
          <p:cNvSpPr txBox="1"/>
          <p:nvPr/>
        </p:nvSpPr>
        <p:spPr>
          <a:xfrm>
            <a:off x="6610350" y="2085499"/>
            <a:ext cx="3895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b="1" dirty="0"/>
              <a:t>DEMOS</a:t>
            </a:r>
            <a:r>
              <a:rPr lang="es-PE" dirty="0"/>
              <a:t>:</a:t>
            </a:r>
          </a:p>
        </p:txBody>
      </p:sp>
      <p:pic>
        <p:nvPicPr>
          <p:cNvPr id="4098" name="Picture 2" descr="Documentación básica en un proceso de importación">
            <a:extLst>
              <a:ext uri="{FF2B5EF4-FFF2-40B4-BE49-F238E27FC236}">
                <a16:creationId xmlns:a16="http://schemas.microsoft.com/office/drawing/2014/main" id="{5288130D-531F-9F0E-C77A-1170AA642F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9891" y="3105467"/>
            <a:ext cx="4052205" cy="2457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n 8" descr="Interfaz de usuario gráfica, Texto, Aplicación, Correo electrónico">
            <a:extLst>
              <a:ext uri="{FF2B5EF4-FFF2-40B4-BE49-F238E27FC236}">
                <a16:creationId xmlns:a16="http://schemas.microsoft.com/office/drawing/2014/main" id="{F7B6452D-88DB-E2BE-F25E-96529508CD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181" y="2612621"/>
            <a:ext cx="5349950" cy="3624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7736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0F65C768C54C4F81C16734FAFD7B8C" ma:contentTypeVersion="14" ma:contentTypeDescription="Create a new document." ma:contentTypeScope="" ma:versionID="4d6fdb1914acc8be1e74b15dde1f9e75">
  <xsd:schema xmlns:xsd="http://www.w3.org/2001/XMLSchema" xmlns:xs="http://www.w3.org/2001/XMLSchema" xmlns:p="http://schemas.microsoft.com/office/2006/metadata/properties" xmlns:ns2="2cdc6ba3-c978-4a2c-9294-93b041281a9a" xmlns:ns3="7e8e5090-7860-42e7-b820-d92400b08229" targetNamespace="http://schemas.microsoft.com/office/2006/metadata/properties" ma:root="true" ma:fieldsID="dc1275ec6af1341fcf867196ee08cc01" ns2:_="" ns3:_="">
    <xsd:import namespace="2cdc6ba3-c978-4a2c-9294-93b041281a9a"/>
    <xsd:import namespace="7e8e5090-7860-42e7-b820-d92400b0822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dc6ba3-c978-4a2c-9294-93b041281a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8e5090-7860-42e7-b820-d92400b0822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a6c006c7-a563-4cfb-9f31-3aeec303f20c}" ma:internalName="TaxCatchAll" ma:showField="CatchAllData" ma:web="7e8e5090-7860-42e7-b820-d92400b0822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cdc6ba3-c978-4a2c-9294-93b041281a9a">
      <Terms xmlns="http://schemas.microsoft.com/office/infopath/2007/PartnerControls"/>
    </lcf76f155ced4ddcb4097134ff3c332f>
    <TaxCatchAll xmlns="7e8e5090-7860-42e7-b820-d92400b08229" xsi:nil="true"/>
  </documentManagement>
</p:properties>
</file>

<file path=customXml/itemProps1.xml><?xml version="1.0" encoding="utf-8"?>
<ds:datastoreItem xmlns:ds="http://schemas.openxmlformats.org/officeDocument/2006/customXml" ds:itemID="{188A51F5-355F-45F3-9DF1-A9291328BC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3D7660-3BD8-43CB-8DA8-4CC1490F940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dc6ba3-c978-4a2c-9294-93b041281a9a"/>
    <ds:schemaRef ds:uri="7e8e5090-7860-42e7-b820-d92400b0822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9A3F118-32F3-400C-B2F0-377A05EF0032}">
  <ds:schemaRefs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infopath/2007/PartnerControls"/>
    <ds:schemaRef ds:uri="7e8e5090-7860-42e7-b820-d92400b08229"/>
    <ds:schemaRef ds:uri="http://purl.org/dc/terms/"/>
    <ds:schemaRef ds:uri="http://purl.org/dc/dcmitype/"/>
    <ds:schemaRef ds:uri="http://schemas.microsoft.com/office/2006/documentManagement/types"/>
    <ds:schemaRef ds:uri="2cdc6ba3-c978-4a2c-9294-93b041281a9a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850</Words>
  <Application>Microsoft Office PowerPoint</Application>
  <PresentationFormat>Panorámica</PresentationFormat>
  <Paragraphs>67</Paragraphs>
  <Slides>16</Slides>
  <Notes>0</Notes>
  <HiddenSlides>0</HiddenSlides>
  <MMClips>0</MMClips>
  <ScaleCrop>false</ScaleCrop>
  <HeadingPairs>
    <vt:vector size="8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9" baseType="lpstr">
      <vt:lpstr>-apple-system</vt:lpstr>
      <vt:lpstr>Arial</vt:lpstr>
      <vt:lpstr>Arial Black</vt:lpstr>
      <vt:lpstr>Calibri</vt:lpstr>
      <vt:lpstr>Calibri Light</vt:lpstr>
      <vt:lpstr>Google Sans</vt:lpstr>
      <vt:lpstr>inherit</vt:lpstr>
      <vt:lpstr>Inter</vt:lpstr>
      <vt:lpstr>JetBrains Mono</vt:lpstr>
      <vt:lpstr>Tw Cen MT</vt:lpstr>
      <vt:lpstr>Verdana</vt:lpstr>
      <vt:lpstr>Tema de Office</vt:lpstr>
      <vt:lpstr>Objeto empaquetador del shell</vt:lpstr>
      <vt:lpstr>AUTOMATIZACIÓN DE APIS CON KARATE</vt:lpstr>
      <vt:lpstr>Karate: Automatización de APIS</vt:lpstr>
      <vt:lpstr>Beneficios - Testing APIS con Karate</vt:lpstr>
      <vt:lpstr>Hello World</vt:lpstr>
      <vt:lpstr>REQUERIMIENTOS</vt:lpstr>
      <vt:lpstr>Proyecto de Prueba</vt:lpstr>
      <vt:lpstr>Plugins para Intellij Idea</vt:lpstr>
      <vt:lpstr>Abrimos el Proyecto con Intellij</vt:lpstr>
      <vt:lpstr>Ejecución del Proyecto</vt:lpstr>
      <vt:lpstr>Reporte de Ejecución de Karate</vt:lpstr>
      <vt:lpstr>Reporte de Karate</vt:lpstr>
      <vt:lpstr>Detalle de Ejecución del Escenario</vt:lpstr>
      <vt:lpstr>Ejemplo Básico 1</vt:lpstr>
      <vt:lpstr>Ejemplo Básico 2</vt:lpstr>
      <vt:lpstr>Ejemplo Básico con Autentificación</vt:lpstr>
      <vt:lpstr>Documentación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ESTRATEGIA DE AUTOMATIZACIÓN</dc:title>
  <dc:creator>Jean Karlo Benites Gutierrez</dc:creator>
  <cp:lastModifiedBy>Anavaleria Huamani Palacios</cp:lastModifiedBy>
  <cp:revision>13</cp:revision>
  <dcterms:created xsi:type="dcterms:W3CDTF">2022-06-09T16:20:30Z</dcterms:created>
  <dcterms:modified xsi:type="dcterms:W3CDTF">2026-04-24T21:58:48Z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0x010100080F65C768C54C4F81C16734FAFD7B8C</vt:lpwstr>
  </property>
  <property fmtid="{D5CDD505-2E9C-101B-9397-08002B2CF9AE}" pid="3" name="MediaServiceImageTags">
    <vt:lpwstr/>
  </property>
</Properties>
</file>